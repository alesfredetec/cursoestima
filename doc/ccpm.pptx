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90" r:id="rId3"/>
    <p:sldId id="295" r:id="rId4"/>
    <p:sldId id="291" r:id="rId5"/>
    <p:sldId id="296" r:id="rId6"/>
    <p:sldId id="297" r:id="rId7"/>
  </p:sldIdLst>
  <p:sldSz cx="12192000" cy="6858000"/>
  <p:notesSz cx="6858000" cy="9144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91" d="100"/>
          <a:sy n="91" d="100"/>
        </p:scale>
        <p:origin x="1416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F677C7-9671-4BED-BED5-4DC5E46762B2}" type="datetimeFigureOut">
              <a:rPr lang="es-AR" smtClean="0"/>
              <a:t>16/12/2025</a:t>
            </a:fld>
            <a:endParaRPr lang="es-AR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AR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D70AD3-D002-4358-AA26-BE3AEF7BB6E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8360772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>
            <a:extLst>
              <a:ext uri="{FF2B5EF4-FFF2-40B4-BE49-F238E27FC236}">
                <a16:creationId xmlns:a16="http://schemas.microsoft.com/office/drawing/2014/main" id="{EC34D163-EEE8-83A0-442B-7542F74D219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412A26DF-FDDA-48FB-BF4B-5F3D42E91856}" type="slidenum">
              <a:rPr lang="es-ES_tradnl" altLang="es-AR" sz="1200"/>
              <a:pPr eaLnBrk="1" hangingPunct="1"/>
              <a:t>2</a:t>
            </a:fld>
            <a:endParaRPr lang="es-ES_tradnl" altLang="es-AR" sz="1200"/>
          </a:p>
        </p:txBody>
      </p:sp>
      <p:sp>
        <p:nvSpPr>
          <p:cNvPr id="72707" name="Rectangle 2">
            <a:extLst>
              <a:ext uri="{FF2B5EF4-FFF2-40B4-BE49-F238E27FC236}">
                <a16:creationId xmlns:a16="http://schemas.microsoft.com/office/drawing/2014/main" id="{992CB81A-BFAB-07F0-3D13-5C7FDE339178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8" name="Rectangle 3">
            <a:extLst>
              <a:ext uri="{FF2B5EF4-FFF2-40B4-BE49-F238E27FC236}">
                <a16:creationId xmlns:a16="http://schemas.microsoft.com/office/drawing/2014/main" id="{9851AEA4-C280-7985-1B3C-AF8E87BCF6C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_tradnl" altLang="es-A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>
            <a:extLst>
              <a:ext uri="{FF2B5EF4-FFF2-40B4-BE49-F238E27FC236}">
                <a16:creationId xmlns:a16="http://schemas.microsoft.com/office/drawing/2014/main" id="{B4FD0D87-166A-6238-DDCD-EBAB087F6AE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81BED0A8-9FB5-49BB-82B0-E350B44C1934}" type="slidenum">
              <a:rPr lang="es-ES_tradnl" altLang="es-AR" sz="1200"/>
              <a:pPr eaLnBrk="1" hangingPunct="1"/>
              <a:t>3</a:t>
            </a:fld>
            <a:endParaRPr lang="es-ES_tradnl" altLang="es-AR" sz="1200"/>
          </a:p>
        </p:txBody>
      </p:sp>
      <p:sp>
        <p:nvSpPr>
          <p:cNvPr id="73731" name="Rectangle 2">
            <a:extLst>
              <a:ext uri="{FF2B5EF4-FFF2-40B4-BE49-F238E27FC236}">
                <a16:creationId xmlns:a16="http://schemas.microsoft.com/office/drawing/2014/main" id="{079E8BD2-3081-8342-F3EC-989DD730796C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2" name="Rectangle 3">
            <a:extLst>
              <a:ext uri="{FF2B5EF4-FFF2-40B4-BE49-F238E27FC236}">
                <a16:creationId xmlns:a16="http://schemas.microsoft.com/office/drawing/2014/main" id="{EA8C0279-DC0F-C736-FB84-93705EB4B5B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_tradnl" altLang="es-AR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>
            <a:extLst>
              <a:ext uri="{FF2B5EF4-FFF2-40B4-BE49-F238E27FC236}">
                <a16:creationId xmlns:a16="http://schemas.microsoft.com/office/drawing/2014/main" id="{E6D0F6CE-940F-4E04-E7E5-20FE01CE731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D8377DF1-06EE-43CE-B94C-25DBC033C3A3}" type="slidenum">
              <a:rPr lang="es-ES_tradnl" altLang="es-AR" sz="1200"/>
              <a:pPr eaLnBrk="1" hangingPunct="1"/>
              <a:t>4</a:t>
            </a:fld>
            <a:endParaRPr lang="es-ES_tradnl" altLang="es-AR" sz="1200"/>
          </a:p>
        </p:txBody>
      </p:sp>
      <p:sp>
        <p:nvSpPr>
          <p:cNvPr id="74755" name="Rectangle 2">
            <a:extLst>
              <a:ext uri="{FF2B5EF4-FFF2-40B4-BE49-F238E27FC236}">
                <a16:creationId xmlns:a16="http://schemas.microsoft.com/office/drawing/2014/main" id="{575B8377-740C-0FA9-9C67-74552D59F569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6" name="Rectangle 3">
            <a:extLst>
              <a:ext uri="{FF2B5EF4-FFF2-40B4-BE49-F238E27FC236}">
                <a16:creationId xmlns:a16="http://schemas.microsoft.com/office/drawing/2014/main" id="{49A55043-499B-D5D3-C275-81148FB4054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_tradnl" altLang="es-AR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>
            <a:extLst>
              <a:ext uri="{FF2B5EF4-FFF2-40B4-BE49-F238E27FC236}">
                <a16:creationId xmlns:a16="http://schemas.microsoft.com/office/drawing/2014/main" id="{2221DA9F-8966-C69D-8595-65DF6468378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E966F96D-D3C1-4E89-898E-1B2958D8FB16}" type="slidenum">
              <a:rPr lang="es-ES_tradnl" altLang="es-AR" sz="1200"/>
              <a:pPr eaLnBrk="1" hangingPunct="1"/>
              <a:t>5</a:t>
            </a:fld>
            <a:endParaRPr lang="es-ES_tradnl" altLang="es-AR" sz="1200"/>
          </a:p>
        </p:txBody>
      </p:sp>
      <p:sp>
        <p:nvSpPr>
          <p:cNvPr id="75779" name="Rectangle 2">
            <a:extLst>
              <a:ext uri="{FF2B5EF4-FFF2-40B4-BE49-F238E27FC236}">
                <a16:creationId xmlns:a16="http://schemas.microsoft.com/office/drawing/2014/main" id="{2ECB29EF-905F-39D9-10CE-3DB7E83599BF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0" name="Rectangle 3">
            <a:extLst>
              <a:ext uri="{FF2B5EF4-FFF2-40B4-BE49-F238E27FC236}">
                <a16:creationId xmlns:a16="http://schemas.microsoft.com/office/drawing/2014/main" id="{84EE2C4A-AAFE-3276-FCCF-472A781DDB8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_tradnl" altLang="es-AR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>
            <a:extLst>
              <a:ext uri="{FF2B5EF4-FFF2-40B4-BE49-F238E27FC236}">
                <a16:creationId xmlns:a16="http://schemas.microsoft.com/office/drawing/2014/main" id="{93E1ACC6-E4F7-10E1-0FEF-47E5A64D88B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EABD579A-6CBA-4607-BA08-984B802B14FF}" type="slidenum">
              <a:rPr lang="es-ES_tradnl" altLang="es-AR" sz="1200"/>
              <a:pPr eaLnBrk="1" hangingPunct="1"/>
              <a:t>6</a:t>
            </a:fld>
            <a:endParaRPr lang="es-ES_tradnl" altLang="es-AR" sz="1200"/>
          </a:p>
        </p:txBody>
      </p:sp>
      <p:sp>
        <p:nvSpPr>
          <p:cNvPr id="76803" name="Rectangle 2">
            <a:extLst>
              <a:ext uri="{FF2B5EF4-FFF2-40B4-BE49-F238E27FC236}">
                <a16:creationId xmlns:a16="http://schemas.microsoft.com/office/drawing/2014/main" id="{DC786502-DFEC-C135-3201-602487F0FEE2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4" name="Rectangle 3">
            <a:extLst>
              <a:ext uri="{FF2B5EF4-FFF2-40B4-BE49-F238E27FC236}">
                <a16:creationId xmlns:a16="http://schemas.microsoft.com/office/drawing/2014/main" id="{08077A0A-61D9-ADAD-1468-262D996168D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_tradnl" altLang="es-A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9FAB25-C4F4-02BD-053F-949D8277F0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347290F-536E-479A-6553-6DBD81A423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D0FDF9C-9E70-E5A0-D8AB-973783CFEC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35FCFE-F51C-41F2-BD6D-86BCB6D4E275}" type="datetimeFigureOut">
              <a:rPr lang="es-AR" smtClean="0"/>
              <a:t>16/12/2025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9B7F1C3-E361-9666-32B9-3B9830025B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B403D9A-7B50-196F-06C3-AB8C8FD016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5A0FE-C238-437D-ACC5-AFB0456FED46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0435700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AF1F50-DDFF-B884-E2CB-A0B8ED0EC1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19C94E5-952C-2781-E1F1-24E1BAF6E2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55F5423-4D72-0F70-4328-387BCE4EFE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35FCFE-F51C-41F2-BD6D-86BCB6D4E275}" type="datetimeFigureOut">
              <a:rPr lang="es-AR" smtClean="0"/>
              <a:t>16/12/2025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917969E-AE58-F3BC-6493-091AE49B5B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F5CCEDE-2095-AD41-018D-4E4A93C35F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5A0FE-C238-437D-ACC5-AFB0456FED46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2696744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8B0801-806C-43AB-73EB-5C877D1691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9152A8E-FE20-6CF2-DA34-6A47380F47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FA95199-AFD4-DAE4-0494-B6D523931D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35FCFE-F51C-41F2-BD6D-86BCB6D4E275}" type="datetimeFigureOut">
              <a:rPr lang="es-AR" smtClean="0"/>
              <a:t>16/12/2025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D28D617-2270-991B-44EC-20CAF4D40A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FF0271F-D985-B0CF-AF50-5148C19A4B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5A0FE-C238-437D-ACC5-AFB0456FED46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5848983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BE58D7-675A-52CE-49BA-F6FFC0B616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F328A3E-49E6-1B0B-3E98-5FA89E2D653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E73B64B-A5D8-7567-2769-8D6FD49C3E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1095226-BA99-E76A-66D4-FD3C1ADEC4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35FCFE-F51C-41F2-BD6D-86BCB6D4E275}" type="datetimeFigureOut">
              <a:rPr lang="es-AR" smtClean="0"/>
              <a:t>16/12/2025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146168D-262D-D370-2C77-3F34D058CF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02351C0-DE53-A801-C9DE-0F64F9B424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5A0FE-C238-437D-ACC5-AFB0456FED46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1942503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A08B6F-985C-9A58-2897-FF27CFEFAE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C8DB820-BC11-A17E-B4C4-A8C2EADD0F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E3DA11F-135E-0C22-3500-1A4BBBBF37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6A29456-B3DB-9497-DB2E-A08FF5C4703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8750B178-B0F7-6680-E510-D2747CDE35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8F5D459-7BFD-23B4-0CA1-58B4BACD57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35FCFE-F51C-41F2-BD6D-86BCB6D4E275}" type="datetimeFigureOut">
              <a:rPr lang="es-AR" smtClean="0"/>
              <a:t>16/12/2025</a:t>
            </a:fld>
            <a:endParaRPr lang="es-AR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708FD409-99F3-E6EF-7A00-1BECF88216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5441AA05-2312-7D31-7E92-890E2EF93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5A0FE-C238-437D-ACC5-AFB0456FED46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5229650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AA3057-EC3B-924A-D9F6-BAC20D7904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846D068-915B-96CB-5031-A65B63F1A3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35FCFE-F51C-41F2-BD6D-86BCB6D4E275}" type="datetimeFigureOut">
              <a:rPr lang="es-AR" smtClean="0"/>
              <a:t>16/12/2025</a:t>
            </a:fld>
            <a:endParaRPr lang="es-AR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810AB16-0AB0-09C6-0276-0C4EF1FA4B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7F6B28C5-607A-48DF-D618-A9D4B8233B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5A0FE-C238-437D-ACC5-AFB0456FED46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9928829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58ECECF4-1D96-B51D-CE15-0CFA782C4C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35FCFE-F51C-41F2-BD6D-86BCB6D4E275}" type="datetimeFigureOut">
              <a:rPr lang="es-AR" smtClean="0"/>
              <a:t>16/12/2025</a:t>
            </a:fld>
            <a:endParaRPr lang="es-AR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2F0BDAD3-6D4A-CEA4-A0D7-2BC7B11495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69767B2-B256-867A-799C-06D5B691E4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5A0FE-C238-437D-ACC5-AFB0456FED46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5001173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117F9C-9525-7609-75A4-3E9BAE48EE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615B665-AAE7-3258-2A40-0197CC7E39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ABE0198-3E4B-7D0E-92D8-DDBDDF7518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2BDDCF3-3EEF-0E3F-E86A-6A1E9DE6A4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35FCFE-F51C-41F2-BD6D-86BCB6D4E275}" type="datetimeFigureOut">
              <a:rPr lang="es-AR" smtClean="0"/>
              <a:t>16/12/2025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E82BD46-2AA2-2C6E-0EB8-959961B4F5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DF33B29-8838-7319-F19C-73484A0EF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5A0FE-C238-437D-ACC5-AFB0456FED46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488057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AADC35-105B-FF4D-BEE5-E489890395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A2F9D624-A890-4C70-B789-9D4CD32AB9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A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7EF0917-605F-02D6-42F8-0269A7DD73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05671ED-B97A-AD6C-B195-3A45BF5C20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35FCFE-F51C-41F2-BD6D-86BCB6D4E275}" type="datetimeFigureOut">
              <a:rPr lang="es-AR" smtClean="0"/>
              <a:t>16/12/2025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A7EF702-5FD4-314C-55D6-008AD678A0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0E950F3-36CC-F2D8-03F7-5D6EA729E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5A0FE-C238-437D-ACC5-AFB0456FED46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2156690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020C31-1342-4460-19DD-11F1E6CFEF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2C0CF0B-FA89-EB69-2B07-D6E176A058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A094DD2-A918-4478-5690-625653577A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35FCFE-F51C-41F2-BD6D-86BCB6D4E275}" type="datetimeFigureOut">
              <a:rPr lang="es-AR" smtClean="0"/>
              <a:t>16/12/2025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16A0231-97FA-C926-32D8-F7C0406D61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FFED35D-AEF9-6E4E-8083-A600908054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5A0FE-C238-437D-ACC5-AFB0456FED46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7742821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C7981E9-3520-2FF0-48B3-9686DDD4A4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FED1138-A146-2E6D-7DF4-86981FFBB0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F99E1B4-E461-1BE7-F695-EB39089274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35FCFE-F51C-41F2-BD6D-86BCB6D4E275}" type="datetimeFigureOut">
              <a:rPr lang="es-AR" smtClean="0"/>
              <a:t>16/12/2025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3AF6233-1A2C-E218-6925-00AE8D7BAC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C33A1BD-0040-B5FF-313E-DEE6C24A41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5A0FE-C238-437D-ACC5-AFB0456FED46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2211632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9893D4A8-678A-5431-BAFC-9D5A8F7A0B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2CC3342-525E-D446-A678-48162B36C9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4D40055-A42F-BE58-4640-0D24AB75C3A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35FCFE-F51C-41F2-BD6D-86BCB6D4E275}" type="datetimeFigureOut">
              <a:rPr lang="es-AR" smtClean="0"/>
              <a:t>16/12/2025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57A482F-4EC5-1050-A1D9-800CA9AA07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41042E4-B1BC-AC1A-2195-A83145422A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25A0FE-C238-437D-ACC5-AFB0456FED46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7023240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jpeg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hyperlink" Target="http://images.google.com/imgres?imgurl=http://www.pazdelrio.com.co/nuestro_compromiso.jpg&amp;imgrefurl=http://www.pazdelrio.com.co/perfil.html&amp;h=1377&amp;w=813&amp;sz=97&amp;hl=en&amp;start=5&amp;sig2=DVYcda9KaACoFuvhFPwlFQ&amp;usg=__EJo9mSuxBqmjMC7nWYtP51WeiAk=&amp;tbnid=zHifxS7SpKXYyM:&amp;tbnh=150&amp;tbnw=89&amp;ei=J7L4SLe3FKDMefud8CA&amp;prev=/images%3Fq%3Dcompromiso%26gbv%3D2%26hl%3Den" TargetMode="External"/><Relationship Id="rId7" Type="http://schemas.openxmlformats.org/officeDocument/2006/relationships/hyperlink" Target="http://images.google.com/imgres?imgurl=http://www.evp.edu.py/images/60-ar-20.png&amp;imgrefurl=http://www.evp.edu.py/index.php%3Ftitle%3DEducFisi8voUnidades5&amp;h=216&amp;w=284&amp;sz=37&amp;hl=en&amp;start=88&amp;sig2=OwQSDLJ5o48W-MvsfTdrPw&amp;usg=__IIgLCk0XkJaL7DnvU6mptel8kdA=&amp;tbnid=s7yH-yrLkI6PAM:&amp;tbnh=87&amp;tbnw=114&amp;ei=mrL4SLiJC4eOeeDjpRg&amp;prev=/images%3Fq%3Dcarrera%2Bpostas%26start%3D72%26gbv%3D2%26ndsp%3D18%26hl%3Den%26sa%3DN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jpeg"/><Relationship Id="rId5" Type="http://schemas.openxmlformats.org/officeDocument/2006/relationships/hyperlink" Target="http://images.google.com/imgres?imgurl=http://www.iq-online.com/images/FOTOS%2520WEB/CLIENTES/firmar%2520cheque.jpg&amp;imgrefurl=http://www.iq-online.com/contenido/capitulo.asp%3Fchapter%3D843&amp;h=267&amp;w=400&amp;sz=14&amp;hl=en&amp;start=2&amp;sig2=50pO3ajB7mZ-ydZUoQVs_A&amp;usg=__ofMM-OT6dhxTw0VVTF1jK_91jyE=&amp;tbnid=_JPj1Fv1zZ6ILM:&amp;tbnh=83&amp;tbnw=124&amp;ei=TrL4SKHtFofOeazPjSg&amp;prev=/images%3Fq%3Dfirmar%26gbv%3D2%26hl%3Den" TargetMode="External"/><Relationship Id="rId4" Type="http://schemas.openxmlformats.org/officeDocument/2006/relationships/image" Target="../media/image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E30439A-8A5B-46EC-8283-9B6B031D40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27"/>
            <a:ext cx="12192001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55521" y="-1720"/>
            <a:ext cx="11750040" cy="6840685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61000"/>
                </a:schemeClr>
              </a:gs>
              <a:gs pos="100000">
                <a:schemeClr val="accent1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6054" y="-1291"/>
            <a:ext cx="3608179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274173">
            <a:off x="6059728" y="779270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8414880-DA3B-9B24-9D87-030D09094B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6865" y="818984"/>
            <a:ext cx="6596245" cy="3268520"/>
          </a:xfrm>
        </p:spPr>
        <p:txBody>
          <a:bodyPr>
            <a:normAutofit/>
          </a:bodyPr>
          <a:lstStyle/>
          <a:p>
            <a:pPr algn="r"/>
            <a:r>
              <a:rPr lang="es-AR" sz="4800">
                <a:solidFill>
                  <a:srgbClr val="FFFFFF"/>
                </a:solidFill>
              </a:rPr>
              <a:t>ccpm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314" y="4480038"/>
            <a:ext cx="12179371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DF2A98D-53C1-ADDD-38B9-097BE32634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31874" y="4797188"/>
            <a:ext cx="6051236" cy="1241828"/>
          </a:xfrm>
        </p:spPr>
        <p:txBody>
          <a:bodyPr>
            <a:normAutofit/>
          </a:bodyPr>
          <a:lstStyle/>
          <a:p>
            <a:pPr algn="r"/>
            <a:r>
              <a:rPr lang="es-AR">
                <a:solidFill>
                  <a:srgbClr val="FFFFFF"/>
                </a:solidFill>
              </a:rPr>
              <a:t>fintexa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3947E58-F088-49F1-A3D1-DEA690192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6967085" y="1632660"/>
            <a:ext cx="6857572" cy="3592258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35152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ext Box 3">
            <a:extLst>
              <a:ext uri="{FF2B5EF4-FFF2-40B4-BE49-F238E27FC236}">
                <a16:creationId xmlns:a16="http://schemas.microsoft.com/office/drawing/2014/main" id="{2E0F3F85-86E3-C2F5-BEE0-FF0BB57D15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18323" y="901542"/>
            <a:ext cx="8295323" cy="526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95000"/>
              </a:lnSpc>
            </a:pPr>
            <a:r>
              <a:rPr lang="en-US" altLang="es-AR" sz="3600" b="1">
                <a:solidFill>
                  <a:srgbClr val="262673"/>
                </a:solidFill>
                <a:latin typeface="Verdana" panose="020B0604030504040204" pitchFamily="34" charset="0"/>
              </a:rPr>
              <a:t>CCPM  </a:t>
            </a:r>
          </a:p>
        </p:txBody>
      </p:sp>
      <p:sp>
        <p:nvSpPr>
          <p:cNvPr id="28675" name="Text Box 4">
            <a:extLst>
              <a:ext uri="{FF2B5EF4-FFF2-40B4-BE49-F238E27FC236}">
                <a16:creationId xmlns:a16="http://schemas.microsoft.com/office/drawing/2014/main" id="{161C8E6E-7095-CCAC-9745-9B6114F169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4029" y="480061"/>
            <a:ext cx="8428196" cy="2631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ct val="95000"/>
              </a:lnSpc>
            </a:pPr>
            <a:r>
              <a:rPr lang="en-US" altLang="es-AR" sz="1800">
                <a:solidFill>
                  <a:srgbClr val="000000"/>
                </a:solidFill>
                <a:latin typeface="Verdana" panose="020B0604030504040204" pitchFamily="34" charset="0"/>
              </a:rPr>
              <a:t>ADMINISTRACION DE PROYECTOS DE SOFTWARE - IT</a:t>
            </a:r>
          </a:p>
        </p:txBody>
      </p:sp>
      <p:sp>
        <p:nvSpPr>
          <p:cNvPr id="78853" name="Text Box 5">
            <a:extLst>
              <a:ext uri="{FF2B5EF4-FFF2-40B4-BE49-F238E27FC236}">
                <a16:creationId xmlns:a16="http://schemas.microsoft.com/office/drawing/2014/main" id="{1491A4E9-E45A-FE74-767D-D84189FA21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18323" y="1420177"/>
            <a:ext cx="8295323" cy="16619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>
              <a:defRPr/>
            </a:pPr>
            <a:r>
              <a:rPr lang="es-AR" sz="1620" i="1" dirty="0">
                <a:solidFill>
                  <a:srgbClr val="003399"/>
                </a:solidFill>
                <a:latin typeface="Verdana" pitchFamily="34" charset="0"/>
              </a:rPr>
              <a:t>CRITICAL CHAIN PROJECT MANAGEMENT</a:t>
            </a:r>
            <a:br>
              <a:rPr lang="es-AR" sz="1620" i="1" dirty="0">
                <a:solidFill>
                  <a:srgbClr val="003399"/>
                </a:solidFill>
                <a:latin typeface="Verdana" pitchFamily="34" charset="0"/>
              </a:rPr>
            </a:br>
            <a:r>
              <a:rPr lang="es-ES" sz="1260" dirty="0">
                <a:latin typeface="Verdana" pitchFamily="34" charset="0"/>
              </a:rPr>
              <a:t>El método de la </a:t>
            </a:r>
            <a:r>
              <a:rPr lang="es-ES" sz="1260" b="1" dirty="0">
                <a:latin typeface="Verdana" pitchFamily="34" charset="0"/>
              </a:rPr>
              <a:t>Cadena Crítica es representado como la intercepción entre</a:t>
            </a:r>
          </a:p>
          <a:p>
            <a:pPr>
              <a:defRPr/>
            </a:pPr>
            <a:r>
              <a:rPr lang="es-ES" sz="1260" dirty="0">
                <a:latin typeface="Verdana" pitchFamily="34" charset="0"/>
              </a:rPr>
              <a:t>PMBOK, TOC (</a:t>
            </a:r>
            <a:r>
              <a:rPr lang="es-ES" sz="1260" dirty="0" err="1">
                <a:latin typeface="Verdana" pitchFamily="34" charset="0"/>
              </a:rPr>
              <a:t>Theory</a:t>
            </a:r>
            <a:r>
              <a:rPr lang="es-ES" sz="1260" dirty="0">
                <a:latin typeface="Verdana" pitchFamily="34" charset="0"/>
              </a:rPr>
              <a:t> of </a:t>
            </a:r>
            <a:r>
              <a:rPr lang="es-ES" sz="1260" dirty="0" err="1">
                <a:latin typeface="Verdana" pitchFamily="34" charset="0"/>
              </a:rPr>
              <a:t>Constraints</a:t>
            </a:r>
            <a:r>
              <a:rPr lang="es-ES" sz="1260" dirty="0">
                <a:latin typeface="Verdana" pitchFamily="34" charset="0"/>
              </a:rPr>
              <a:t>) “Teoría de las Restricciones y TQM (Total </a:t>
            </a:r>
            <a:r>
              <a:rPr lang="es-ES" sz="1260" dirty="0" err="1">
                <a:latin typeface="Verdana" pitchFamily="34" charset="0"/>
              </a:rPr>
              <a:t>Quality</a:t>
            </a:r>
            <a:r>
              <a:rPr lang="es-ES" sz="1260" dirty="0">
                <a:latin typeface="Verdana" pitchFamily="34" charset="0"/>
              </a:rPr>
              <a:t> Management). Este método facilita la elaboración de un plan de trabajo con la menor incertidumbre posible, permitiendo una aproximación </a:t>
            </a:r>
            <a:r>
              <a:rPr lang="es-ES" sz="1260" dirty="0" err="1">
                <a:latin typeface="Verdana" pitchFamily="34" charset="0"/>
              </a:rPr>
              <a:t>másreal</a:t>
            </a:r>
            <a:r>
              <a:rPr lang="es-ES" sz="1260" dirty="0">
                <a:latin typeface="Verdana" pitchFamily="34" charset="0"/>
              </a:rPr>
              <a:t> a la fecha de culminación y adaptando el plan a como en realidad trabajan </a:t>
            </a:r>
            <a:r>
              <a:rPr lang="es-AR" sz="1260" dirty="0">
                <a:latin typeface="Verdana" pitchFamily="34" charset="0"/>
              </a:rPr>
              <a:t>las personas.</a:t>
            </a:r>
          </a:p>
          <a:p>
            <a:pPr marL="925830" lvl="2" indent="-411480">
              <a:buFontTx/>
              <a:buChar char="•"/>
              <a:defRPr/>
            </a:pPr>
            <a:endParaRPr lang="es-ES_tradnl" sz="1260" b="1" dirty="0">
              <a:latin typeface="Verdana" pitchFamily="34" charset="0"/>
            </a:endParaRPr>
          </a:p>
          <a:p>
            <a:pPr marL="411480" indent="-411480">
              <a:defRPr/>
            </a:pPr>
            <a:endParaRPr lang="es-ES_tradnl" sz="1620" b="1" dirty="0">
              <a:latin typeface="Verdana" pitchFamily="34" charset="0"/>
            </a:endParaRPr>
          </a:p>
        </p:txBody>
      </p:sp>
      <p:pic>
        <p:nvPicPr>
          <p:cNvPr id="28677" name="Picture 8">
            <a:extLst>
              <a:ext uri="{FF2B5EF4-FFF2-40B4-BE49-F238E27FC236}">
                <a16:creationId xmlns:a16="http://schemas.microsoft.com/office/drawing/2014/main" id="{9C6A3B78-58C4-D69E-6F29-BBB1999B34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7357" y="3021807"/>
            <a:ext cx="4829175" cy="38361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678" name="Picture 9">
            <a:extLst>
              <a:ext uri="{FF2B5EF4-FFF2-40B4-BE49-F238E27FC236}">
                <a16:creationId xmlns:a16="http://schemas.microsoft.com/office/drawing/2014/main" id="{F28FB68C-FCB6-2265-8F40-BF7AB16514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9675" y="3364707"/>
            <a:ext cx="4234815" cy="3214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ext Box 3">
            <a:extLst>
              <a:ext uri="{FF2B5EF4-FFF2-40B4-BE49-F238E27FC236}">
                <a16:creationId xmlns:a16="http://schemas.microsoft.com/office/drawing/2014/main" id="{84136D67-DFE6-3C25-0E79-73A95737BD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18323" y="901542"/>
            <a:ext cx="8295323" cy="526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95000"/>
              </a:lnSpc>
            </a:pPr>
            <a:r>
              <a:rPr lang="en-US" altLang="es-AR" sz="3600" b="1">
                <a:solidFill>
                  <a:srgbClr val="262673"/>
                </a:solidFill>
                <a:latin typeface="Verdana" panose="020B0604030504040204" pitchFamily="34" charset="0"/>
              </a:rPr>
              <a:t>CCPM - Cadena Critica</a:t>
            </a:r>
          </a:p>
        </p:txBody>
      </p:sp>
      <p:sp>
        <p:nvSpPr>
          <p:cNvPr id="29699" name="Text Box 4">
            <a:extLst>
              <a:ext uri="{FF2B5EF4-FFF2-40B4-BE49-F238E27FC236}">
                <a16:creationId xmlns:a16="http://schemas.microsoft.com/office/drawing/2014/main" id="{F3485D3D-C55D-22C0-9D0F-9C1ECCDFCF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4029" y="480061"/>
            <a:ext cx="8428196" cy="2631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ct val="95000"/>
              </a:lnSpc>
            </a:pPr>
            <a:r>
              <a:rPr lang="en-US" altLang="es-AR" sz="1800" dirty="0">
                <a:solidFill>
                  <a:srgbClr val="000000"/>
                </a:solidFill>
                <a:latin typeface="Verdana" panose="020B0604030504040204" pitchFamily="34" charset="0"/>
              </a:rPr>
              <a:t>ADMINISTRACION DE PROYECTOS DE SOFTWARE - IT</a:t>
            </a:r>
          </a:p>
        </p:txBody>
      </p:sp>
      <p:sp>
        <p:nvSpPr>
          <p:cNvPr id="78853" name="Text Box 5">
            <a:extLst>
              <a:ext uri="{FF2B5EF4-FFF2-40B4-BE49-F238E27FC236}">
                <a16:creationId xmlns:a16="http://schemas.microsoft.com/office/drawing/2014/main" id="{891EFA39-A3A0-11CB-2454-5176E6EAA8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18323" y="1420178"/>
            <a:ext cx="8295323" cy="17450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>
              <a:defRPr/>
            </a:pPr>
            <a:r>
              <a:rPr lang="es-AR" sz="1620" i="1" dirty="0">
                <a:solidFill>
                  <a:srgbClr val="003399"/>
                </a:solidFill>
                <a:latin typeface="Verdana" pitchFamily="34" charset="0"/>
              </a:rPr>
              <a:t>	</a:t>
            </a:r>
            <a:r>
              <a:rPr lang="es-ES_tradnl" sz="1620" b="1" dirty="0">
                <a:solidFill>
                  <a:srgbClr val="003399"/>
                </a:solidFill>
                <a:latin typeface="Verdana" pitchFamily="34" charset="0"/>
              </a:rPr>
              <a:t>Camino más largo considerando dependencias </a:t>
            </a:r>
            <a:br>
              <a:rPr lang="es-ES_tradnl" sz="1620" b="1" dirty="0">
                <a:solidFill>
                  <a:srgbClr val="003399"/>
                </a:solidFill>
                <a:latin typeface="Verdana" pitchFamily="34" charset="0"/>
              </a:rPr>
            </a:br>
            <a:r>
              <a:rPr lang="es-ES_tradnl" sz="1620" b="1" dirty="0">
                <a:solidFill>
                  <a:srgbClr val="003399"/>
                </a:solidFill>
                <a:latin typeface="Verdana" pitchFamily="34" charset="0"/>
              </a:rPr>
              <a:t>	de tareas y recursos</a:t>
            </a:r>
          </a:p>
          <a:p>
            <a:pPr marL="925830" lvl="2" indent="-411480">
              <a:defRPr/>
            </a:pPr>
            <a:r>
              <a:rPr lang="es-ES_tradnl" sz="1620" b="1" dirty="0">
                <a:latin typeface="Verdana" pitchFamily="34" charset="0"/>
              </a:rPr>
              <a:t>	Quitar la restricciones de recursos antes de definir.</a:t>
            </a:r>
          </a:p>
          <a:p>
            <a:pPr marL="925830" lvl="2" indent="-411480">
              <a:defRPr/>
            </a:pPr>
            <a:r>
              <a:rPr lang="es-ES_tradnl" sz="1620" b="1" dirty="0">
                <a:latin typeface="Verdana" pitchFamily="34" charset="0"/>
              </a:rPr>
              <a:t>	Realizar plan con estimación 50% o PERT</a:t>
            </a:r>
          </a:p>
          <a:p>
            <a:pPr marL="925830" lvl="2" indent="-411480">
              <a:defRPr/>
            </a:pPr>
            <a:r>
              <a:rPr lang="es-ES_tradnl" sz="1620" b="1" dirty="0">
                <a:latin typeface="Verdana" pitchFamily="34" charset="0"/>
              </a:rPr>
              <a:t>	Agregar Buffers (de Proyecto, recursos y feeding buffer)</a:t>
            </a:r>
          </a:p>
          <a:p>
            <a:pPr marL="925830" lvl="2" indent="-411480">
              <a:buFontTx/>
              <a:buChar char="•"/>
              <a:defRPr/>
            </a:pPr>
            <a:endParaRPr lang="es-ES_tradnl" sz="1620" b="1" dirty="0">
              <a:latin typeface="Verdana" pitchFamily="34" charset="0"/>
            </a:endParaRPr>
          </a:p>
          <a:p>
            <a:pPr marL="411480" indent="-411480">
              <a:defRPr/>
            </a:pPr>
            <a:endParaRPr lang="es-ES_tradnl" sz="1620" b="1" dirty="0">
              <a:latin typeface="Verdana" pitchFamily="34" charset="0"/>
            </a:endParaRPr>
          </a:p>
        </p:txBody>
      </p:sp>
      <p:grpSp>
        <p:nvGrpSpPr>
          <p:cNvPr id="29701" name="Group 28">
            <a:extLst>
              <a:ext uri="{FF2B5EF4-FFF2-40B4-BE49-F238E27FC236}">
                <a16:creationId xmlns:a16="http://schemas.microsoft.com/office/drawing/2014/main" id="{037D7F43-E06A-633C-6300-497C522FBEF8}"/>
              </a:ext>
            </a:extLst>
          </p:cNvPr>
          <p:cNvGrpSpPr>
            <a:grpSpLocks/>
          </p:cNvGrpSpPr>
          <p:nvPr/>
        </p:nvGrpSpPr>
        <p:grpSpPr bwMode="auto">
          <a:xfrm>
            <a:off x="6231732" y="2850357"/>
            <a:ext cx="4436268" cy="2130002"/>
            <a:chOff x="3794116" y="3024182"/>
            <a:chExt cx="5429288" cy="2805960"/>
          </a:xfrm>
        </p:grpSpPr>
        <p:grpSp>
          <p:nvGrpSpPr>
            <p:cNvPr id="29708" name="Group 27">
              <a:extLst>
                <a:ext uri="{FF2B5EF4-FFF2-40B4-BE49-F238E27FC236}">
                  <a16:creationId xmlns:a16="http://schemas.microsoft.com/office/drawing/2014/main" id="{48A10B49-FD42-3588-A8DB-CA7D53E0862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94116" y="3024182"/>
              <a:ext cx="5429288" cy="2805960"/>
              <a:chOff x="3865554" y="3024182"/>
              <a:chExt cx="5429288" cy="2805960"/>
            </a:xfrm>
          </p:grpSpPr>
          <p:grpSp>
            <p:nvGrpSpPr>
              <p:cNvPr id="29710" name="Group 12">
                <a:extLst>
                  <a:ext uri="{FF2B5EF4-FFF2-40B4-BE49-F238E27FC236}">
                    <a16:creationId xmlns:a16="http://schemas.microsoft.com/office/drawing/2014/main" id="{25FC726F-DB6F-1405-EAB1-8E60D1A04AE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865554" y="3452810"/>
                <a:ext cx="3313113" cy="1862138"/>
                <a:chOff x="1158" y="2659"/>
                <a:chExt cx="2442" cy="1445"/>
              </a:xfrm>
            </p:grpSpPr>
            <p:pic>
              <p:nvPicPr>
                <p:cNvPr id="29717" name="Picture 13">
                  <a:extLst>
                    <a:ext uri="{FF2B5EF4-FFF2-40B4-BE49-F238E27FC236}">
                      <a16:creationId xmlns:a16="http://schemas.microsoft.com/office/drawing/2014/main" id="{AABEC24C-8D9E-FDF8-F372-C3275BC71F49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158" y="2928"/>
                  <a:ext cx="2442" cy="117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29718" name="Line 14">
                  <a:extLst>
                    <a:ext uri="{FF2B5EF4-FFF2-40B4-BE49-F238E27FC236}">
                      <a16:creationId xmlns:a16="http://schemas.microsoft.com/office/drawing/2014/main" id="{DDDAA5A1-CD6B-D0A6-32E6-711ABB8EE8D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383" y="2886"/>
                  <a:ext cx="0" cy="1043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miter lim="800000"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s-AR" sz="1620"/>
                </a:p>
              </p:txBody>
            </p:sp>
            <p:sp>
              <p:nvSpPr>
                <p:cNvPr id="29719" name="Text Box 15">
                  <a:extLst>
                    <a:ext uri="{FF2B5EF4-FFF2-40B4-BE49-F238E27FC236}">
                      <a16:creationId xmlns:a16="http://schemas.microsoft.com/office/drawing/2014/main" id="{7A7AACE5-C2C4-4094-A05B-6A00FBC22004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293" y="2659"/>
                  <a:ext cx="227" cy="37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</a:pPr>
                  <a:endParaRPr lang="es-AR" altLang="es-AR" sz="1800"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29720" name="Line 16">
                  <a:extLst>
                    <a:ext uri="{FF2B5EF4-FFF2-40B4-BE49-F238E27FC236}">
                      <a16:creationId xmlns:a16="http://schemas.microsoft.com/office/drawing/2014/main" id="{59A154ED-C6D7-859F-0746-0759BE86D71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837" y="2886"/>
                  <a:ext cx="0" cy="227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miter lim="800000"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s-AR" sz="1620"/>
                </a:p>
              </p:txBody>
            </p:sp>
            <p:sp>
              <p:nvSpPr>
                <p:cNvPr id="29721" name="Text Box 17">
                  <a:extLst>
                    <a:ext uri="{FF2B5EF4-FFF2-40B4-BE49-F238E27FC236}">
                      <a16:creationId xmlns:a16="http://schemas.microsoft.com/office/drawing/2014/main" id="{3004CAF6-F765-62CE-98E5-AF4016C8B5C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701" y="2659"/>
                  <a:ext cx="457" cy="49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</a:pPr>
                  <a:r>
                    <a:rPr lang="es-AR" altLang="es-AR" sz="1260">
                      <a:latin typeface="Tahoma" panose="020B0604030504040204" pitchFamily="34" charset="0"/>
                    </a:rPr>
                    <a:t>50%</a:t>
                  </a:r>
                  <a:endParaRPr lang="en-US" altLang="es-AR" sz="1260"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29722" name="Line 18">
                  <a:extLst>
                    <a:ext uri="{FF2B5EF4-FFF2-40B4-BE49-F238E27FC236}">
                      <a16:creationId xmlns:a16="http://schemas.microsoft.com/office/drawing/2014/main" id="{8AF4F82E-E9AA-2015-1DFC-2731244C9A7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422" y="2881"/>
                  <a:ext cx="0" cy="1043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miter lim="800000"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s-AR" sz="1620"/>
                </a:p>
              </p:txBody>
            </p:sp>
            <p:sp>
              <p:nvSpPr>
                <p:cNvPr id="29723" name="Text Box 19">
                  <a:extLst>
                    <a:ext uri="{FF2B5EF4-FFF2-40B4-BE49-F238E27FC236}">
                      <a16:creationId xmlns:a16="http://schemas.microsoft.com/office/drawing/2014/main" id="{7FA2F4D7-9DCE-B9C5-7BED-8DC8B234978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316" y="2659"/>
                  <a:ext cx="527" cy="32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</a:pPr>
                  <a:r>
                    <a:rPr lang="es-AR" altLang="es-AR" sz="1440">
                      <a:latin typeface="Tahoma" panose="020B0604030504040204" pitchFamily="34" charset="0"/>
                    </a:rPr>
                    <a:t>90%</a:t>
                  </a:r>
                  <a:endParaRPr lang="en-US" altLang="es-AR" sz="1440">
                    <a:latin typeface="Tahoma" panose="020B0604030504040204" pitchFamily="34" charset="0"/>
                  </a:endParaRPr>
                </a:p>
              </p:txBody>
            </p:sp>
          </p:grpSp>
          <p:cxnSp>
            <p:nvCxnSpPr>
              <p:cNvPr id="17" name="Elbow Connector 16">
                <a:extLst>
                  <a:ext uri="{FF2B5EF4-FFF2-40B4-BE49-F238E27FC236}">
                    <a16:creationId xmlns:a16="http://schemas.microsoft.com/office/drawing/2014/main" id="{3FBFF024-C840-DE24-BADA-ABE305F36343}"/>
                  </a:ext>
                </a:extLst>
              </p:cNvPr>
              <p:cNvCxnSpPr/>
              <p:nvPr/>
            </p:nvCxnSpPr>
            <p:spPr>
              <a:xfrm>
                <a:off x="4080627" y="5452176"/>
                <a:ext cx="1856974" cy="1882"/>
              </a:xfrm>
              <a:prstGeom prst="bentConnector3">
                <a:avLst>
                  <a:gd name="adj1" fmla="val 50000"/>
                </a:avLst>
              </a:prstGeom>
              <a:ln>
                <a:headEnd type="arrow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9712" name="Text Box 17">
                <a:extLst>
                  <a:ext uri="{FF2B5EF4-FFF2-40B4-BE49-F238E27FC236}">
                    <a16:creationId xmlns:a16="http://schemas.microsoft.com/office/drawing/2014/main" id="{2FF16953-D946-97A3-EB07-3E6D2BD6C10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294182" y="5453074"/>
                <a:ext cx="2786082" cy="3770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s-MX" altLang="es-AR" sz="1260">
                    <a:latin typeface="Tahoma" panose="020B0604030504040204" pitchFamily="34" charset="0"/>
                  </a:rPr>
                  <a:t>100% estimación</a:t>
                </a:r>
                <a:endParaRPr lang="en-US" altLang="es-AR" sz="1260">
                  <a:latin typeface="Tahoma" panose="020B0604030504040204" pitchFamily="34" charset="0"/>
                </a:endParaRPr>
              </a:p>
            </p:txBody>
          </p:sp>
          <p:cxnSp>
            <p:nvCxnSpPr>
              <p:cNvPr id="21" name="Straight Arrow Connector 20">
                <a:extLst>
                  <a:ext uri="{FF2B5EF4-FFF2-40B4-BE49-F238E27FC236}">
                    <a16:creationId xmlns:a16="http://schemas.microsoft.com/office/drawing/2014/main" id="{E941C5EC-6E50-40C5-5014-92B5CC033A0C}"/>
                  </a:ext>
                </a:extLst>
              </p:cNvPr>
              <p:cNvCxnSpPr/>
              <p:nvPr/>
            </p:nvCxnSpPr>
            <p:spPr>
              <a:xfrm rot="10800000" flipV="1">
                <a:off x="5009114" y="3310271"/>
                <a:ext cx="928486" cy="286089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Arrow Connector 21">
                <a:extLst>
                  <a:ext uri="{FF2B5EF4-FFF2-40B4-BE49-F238E27FC236}">
                    <a16:creationId xmlns:a16="http://schemas.microsoft.com/office/drawing/2014/main" id="{B18F6FAB-8A17-E767-110F-BBBA1EFB3C6C}"/>
                  </a:ext>
                </a:extLst>
              </p:cNvPr>
              <p:cNvCxnSpPr>
                <a:stCxn id="29716" idx="1"/>
              </p:cNvCxnSpPr>
              <p:nvPr/>
            </p:nvCxnSpPr>
            <p:spPr>
              <a:xfrm flipH="1">
                <a:off x="5294130" y="3712782"/>
                <a:ext cx="1214629" cy="167786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9715" name="Text Box 17">
                <a:extLst>
                  <a:ext uri="{FF2B5EF4-FFF2-40B4-BE49-F238E27FC236}">
                    <a16:creationId xmlns:a16="http://schemas.microsoft.com/office/drawing/2014/main" id="{180C0273-0163-1BFE-3533-03589E604D7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865819" y="3024182"/>
                <a:ext cx="3143272" cy="3770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s-MX" altLang="es-AR" sz="1260">
                    <a:latin typeface="Tahoma" panose="020B0604030504040204" pitchFamily="34" charset="0"/>
                  </a:rPr>
                  <a:t>Tiempo para calendario de tarea.</a:t>
                </a:r>
                <a:endParaRPr lang="en-US" altLang="es-AR" sz="1260">
                  <a:latin typeface="Tahoma" panose="020B0604030504040204" pitchFamily="34" charset="0"/>
                </a:endParaRPr>
              </a:p>
            </p:txBody>
          </p:sp>
          <p:sp>
            <p:nvSpPr>
              <p:cNvPr id="29716" name="Text Box 17">
                <a:extLst>
                  <a:ext uri="{FF2B5EF4-FFF2-40B4-BE49-F238E27FC236}">
                    <a16:creationId xmlns:a16="http://schemas.microsoft.com/office/drawing/2014/main" id="{E2901BE3-BDC2-A72D-8F7F-1D4A42BD677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508760" y="3524248"/>
                <a:ext cx="2786082" cy="3770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s-MX" altLang="es-AR" sz="1260">
                    <a:latin typeface="Tahoma" panose="020B0604030504040204" pitchFamily="34" charset="0"/>
                  </a:rPr>
                  <a:t>Buffer de tarea</a:t>
                </a:r>
                <a:endParaRPr lang="en-US" altLang="es-AR" sz="1260">
                  <a:latin typeface="Tahoma" panose="020B0604030504040204" pitchFamily="34" charset="0"/>
                </a:endParaRPr>
              </a:p>
            </p:txBody>
          </p:sp>
        </p:grpSp>
        <p:sp>
          <p:nvSpPr>
            <p:cNvPr id="25" name="Right Brace 24">
              <a:extLst>
                <a:ext uri="{FF2B5EF4-FFF2-40B4-BE49-F238E27FC236}">
                  <a16:creationId xmlns:a16="http://schemas.microsoft.com/office/drawing/2014/main" id="{9858781D-C394-153C-6EB4-7BB4A4336D69}"/>
                </a:ext>
              </a:extLst>
            </p:cNvPr>
            <p:cNvSpPr/>
            <p:nvPr/>
          </p:nvSpPr>
          <p:spPr>
            <a:xfrm rot="16200000">
              <a:off x="4936518" y="3738343"/>
              <a:ext cx="500656" cy="785104"/>
            </a:xfrm>
            <a:prstGeom prst="rightBrace">
              <a:avLst>
                <a:gd name="adj1" fmla="val 8333"/>
                <a:gd name="adj2" fmla="val 49093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es-AR" sz="1620"/>
            </a:p>
          </p:txBody>
        </p:sp>
      </p:grpSp>
      <p:pic>
        <p:nvPicPr>
          <p:cNvPr id="29702" name="Picture 2" descr="http://www.pdinstitute.com/pdipics/parallel1.jpg">
            <a:extLst>
              <a:ext uri="{FF2B5EF4-FFF2-40B4-BE49-F238E27FC236}">
                <a16:creationId xmlns:a16="http://schemas.microsoft.com/office/drawing/2014/main" id="{42C5679E-EAB8-6CFF-785B-F2A5B69BC0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2978944"/>
            <a:ext cx="3214688" cy="11658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0116" name="Picture 4" descr="http://www.pdinstitute.com/pdipics/anatomy.jpg">
            <a:extLst>
              <a:ext uri="{FF2B5EF4-FFF2-40B4-BE49-F238E27FC236}">
                <a16:creationId xmlns:a16="http://schemas.microsoft.com/office/drawing/2014/main" id="{EB81D53B-3366-CD65-F318-56C7690385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46057" y="4993482"/>
            <a:ext cx="3683318" cy="18645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" name="Right Arrow 27">
            <a:extLst>
              <a:ext uri="{FF2B5EF4-FFF2-40B4-BE49-F238E27FC236}">
                <a16:creationId xmlns:a16="http://schemas.microsoft.com/office/drawing/2014/main" id="{021EF883-C478-3054-76B8-661C66B4288B}"/>
              </a:ext>
            </a:extLst>
          </p:cNvPr>
          <p:cNvSpPr/>
          <p:nvPr/>
        </p:nvSpPr>
        <p:spPr>
          <a:xfrm rot="5400000">
            <a:off x="2817019" y="4071938"/>
            <a:ext cx="578644" cy="83581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AR" sz="1620"/>
          </a:p>
        </p:txBody>
      </p:sp>
      <p:pic>
        <p:nvPicPr>
          <p:cNvPr id="90118" name="Picture 6" descr="http://www.pdinstitute.com/pdipics/variationexample-b.jpg">
            <a:extLst>
              <a:ext uri="{FF2B5EF4-FFF2-40B4-BE49-F238E27FC236}">
                <a16:creationId xmlns:a16="http://schemas.microsoft.com/office/drawing/2014/main" id="{10CBF7AC-3F2C-B6A6-6C98-B92ED34113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2613" y="4907757"/>
            <a:ext cx="3429000" cy="162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1" name="Right Arrow 30">
            <a:extLst>
              <a:ext uri="{FF2B5EF4-FFF2-40B4-BE49-F238E27FC236}">
                <a16:creationId xmlns:a16="http://schemas.microsoft.com/office/drawing/2014/main" id="{26714717-8E84-39A0-7313-2A792040AA08}"/>
              </a:ext>
            </a:extLst>
          </p:cNvPr>
          <p:cNvSpPr/>
          <p:nvPr/>
        </p:nvSpPr>
        <p:spPr>
          <a:xfrm>
            <a:off x="5488782" y="5446395"/>
            <a:ext cx="578643" cy="83581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AR" sz="1620"/>
          </a:p>
        </p:txBody>
      </p:sp>
      <p:sp>
        <p:nvSpPr>
          <p:cNvPr id="32" name="Right Arrow 31">
            <a:extLst>
              <a:ext uri="{FF2B5EF4-FFF2-40B4-BE49-F238E27FC236}">
                <a16:creationId xmlns:a16="http://schemas.microsoft.com/office/drawing/2014/main" id="{84F97C3A-0D3B-952F-145F-C3F7E4BADC96}"/>
              </a:ext>
            </a:extLst>
          </p:cNvPr>
          <p:cNvSpPr/>
          <p:nvPr/>
        </p:nvSpPr>
        <p:spPr>
          <a:xfrm rot="8873370">
            <a:off x="5308759" y="4033362"/>
            <a:ext cx="580073" cy="83581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AR" sz="162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90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901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901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31" grpId="0" animBg="1"/>
      <p:bldP spid="3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ext Box 3">
            <a:extLst>
              <a:ext uri="{FF2B5EF4-FFF2-40B4-BE49-F238E27FC236}">
                <a16:creationId xmlns:a16="http://schemas.microsoft.com/office/drawing/2014/main" id="{FA5EE41A-6483-1B11-B061-F1E5A0EFC8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4029" y="480061"/>
            <a:ext cx="8428196" cy="2631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ct val="95000"/>
              </a:lnSpc>
            </a:pPr>
            <a:r>
              <a:rPr lang="en-US" altLang="es-AR" sz="1800">
                <a:solidFill>
                  <a:srgbClr val="000000"/>
                </a:solidFill>
                <a:latin typeface="Arial" panose="020B0604020202020204" pitchFamily="34" charset="0"/>
              </a:rPr>
              <a:t>ADMINISTRACION DE PROYECTOS DE SOFTWARE - IT</a:t>
            </a:r>
          </a:p>
        </p:txBody>
      </p:sp>
      <p:sp>
        <p:nvSpPr>
          <p:cNvPr id="30723" name="Text Box 4">
            <a:extLst>
              <a:ext uri="{FF2B5EF4-FFF2-40B4-BE49-F238E27FC236}">
                <a16:creationId xmlns:a16="http://schemas.microsoft.com/office/drawing/2014/main" id="{CA020F09-5E2B-1CE4-B927-18F04AA324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18323" y="1420178"/>
            <a:ext cx="8295323" cy="60662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marL="457200" indent="-4572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028700" indent="-4572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lvl="2" eaLnBrk="1" hangingPunct="1">
              <a:lnSpc>
                <a:spcPct val="150000"/>
              </a:lnSpc>
              <a:buFontTx/>
              <a:buChar char="•"/>
            </a:pPr>
            <a:r>
              <a:rPr lang="es-ES_tradnl" altLang="es-AR" sz="1620" b="1">
                <a:solidFill>
                  <a:srgbClr val="003399"/>
                </a:solidFill>
                <a:latin typeface="Verdana" panose="020B0604030504040204" pitchFamily="34" charset="0"/>
              </a:rPr>
              <a:t>Reducir Estimados 50-50</a:t>
            </a:r>
          </a:p>
          <a:p>
            <a:pPr lvl="2" eaLnBrk="1" hangingPunct="1">
              <a:lnSpc>
                <a:spcPct val="150000"/>
              </a:lnSpc>
              <a:buFontTx/>
              <a:buChar char="•"/>
            </a:pPr>
            <a:r>
              <a:rPr lang="es-ES_tradnl" altLang="es-AR" sz="1620">
                <a:solidFill>
                  <a:srgbClr val="003399"/>
                </a:solidFill>
                <a:latin typeface="Verdana" panose="020B0604030504040204" pitchFamily="34" charset="0"/>
              </a:rPr>
              <a:t>Eliminar dependencias de recursos inicial.</a:t>
            </a:r>
          </a:p>
          <a:p>
            <a:pPr lvl="2" eaLnBrk="1" hangingPunct="1">
              <a:lnSpc>
                <a:spcPct val="150000"/>
              </a:lnSpc>
              <a:buFontTx/>
              <a:buChar char="•"/>
            </a:pPr>
            <a:r>
              <a:rPr lang="es-ES_tradnl" altLang="es-AR" sz="1620">
                <a:solidFill>
                  <a:srgbClr val="003399"/>
                </a:solidFill>
                <a:latin typeface="Verdana" panose="020B0604030504040204" pitchFamily="34" charset="0"/>
              </a:rPr>
              <a:t>Mayor Compromiso de recursos</a:t>
            </a:r>
          </a:p>
          <a:p>
            <a:pPr lvl="2" eaLnBrk="1" hangingPunct="1">
              <a:lnSpc>
                <a:spcPct val="150000"/>
              </a:lnSpc>
              <a:buFontTx/>
              <a:buChar char="•"/>
            </a:pPr>
            <a:r>
              <a:rPr lang="es-ES_tradnl" altLang="es-AR" sz="1620">
                <a:solidFill>
                  <a:srgbClr val="003399"/>
                </a:solidFill>
                <a:latin typeface="Verdana" panose="020B0604030504040204" pitchFamily="34" charset="0"/>
              </a:rPr>
              <a:t>1ro Planifico cadena crítica.</a:t>
            </a:r>
          </a:p>
          <a:p>
            <a:pPr lvl="2" eaLnBrk="1" hangingPunct="1">
              <a:lnSpc>
                <a:spcPct val="150000"/>
              </a:lnSpc>
              <a:buFontTx/>
              <a:buChar char="•"/>
            </a:pPr>
            <a:r>
              <a:rPr lang="es-ES_tradnl" altLang="es-AR" sz="1620">
                <a:solidFill>
                  <a:srgbClr val="003399"/>
                </a:solidFill>
                <a:latin typeface="Verdana" panose="020B0604030504040204" pitchFamily="34" charset="0"/>
              </a:rPr>
              <a:t>2do agrego ALAP las otras cadenas y tareas</a:t>
            </a:r>
          </a:p>
          <a:p>
            <a:pPr lvl="2" eaLnBrk="1" hangingPunct="1">
              <a:lnSpc>
                <a:spcPct val="150000"/>
              </a:lnSpc>
              <a:buFontTx/>
              <a:buChar char="•"/>
            </a:pPr>
            <a:r>
              <a:rPr lang="es-ES_tradnl" altLang="es-AR" sz="1620">
                <a:solidFill>
                  <a:srgbClr val="003399"/>
                </a:solidFill>
                <a:latin typeface="Verdana" panose="020B0604030504040204" pitchFamily="34" charset="0"/>
              </a:rPr>
              <a:t>3er Proteger Cadena Critica con buffer con </a:t>
            </a:r>
            <a:br>
              <a:rPr lang="es-ES_tradnl" altLang="es-AR" sz="1620">
                <a:solidFill>
                  <a:srgbClr val="003399"/>
                </a:solidFill>
                <a:latin typeface="Verdana" panose="020B0604030504040204" pitchFamily="34" charset="0"/>
              </a:rPr>
            </a:br>
            <a:r>
              <a:rPr lang="es-ES_tradnl" altLang="es-AR" sz="1620">
                <a:solidFill>
                  <a:srgbClr val="003399"/>
                </a:solidFill>
                <a:latin typeface="Verdana" panose="020B0604030504040204" pitchFamily="34" charset="0"/>
              </a:rPr>
              <a:t>       sqrt(sum(cuadrados de los restos)).</a:t>
            </a:r>
          </a:p>
          <a:p>
            <a:pPr lvl="2" eaLnBrk="1" hangingPunct="1">
              <a:lnSpc>
                <a:spcPct val="150000"/>
              </a:lnSpc>
              <a:buFontTx/>
              <a:buChar char="•"/>
            </a:pPr>
            <a:r>
              <a:rPr lang="es-ES_tradnl" altLang="es-AR" sz="1620">
                <a:solidFill>
                  <a:srgbClr val="003399"/>
                </a:solidFill>
                <a:latin typeface="Verdana" panose="020B0604030504040204" pitchFamily="34" charset="0"/>
              </a:rPr>
              <a:t>4to Proteger cadenas no criticas con feeding buffer </a:t>
            </a:r>
            <a:br>
              <a:rPr lang="es-ES_tradnl" altLang="es-AR" sz="1620">
                <a:solidFill>
                  <a:srgbClr val="003399"/>
                </a:solidFill>
                <a:latin typeface="Verdana" panose="020B0604030504040204" pitchFamily="34" charset="0"/>
              </a:rPr>
            </a:br>
            <a:r>
              <a:rPr lang="es-ES_tradnl" altLang="es-AR" sz="1620">
                <a:solidFill>
                  <a:srgbClr val="003399"/>
                </a:solidFill>
                <a:latin typeface="Verdana" panose="020B0604030504040204" pitchFamily="34" charset="0"/>
              </a:rPr>
              <a:t>       (sumatoria de restos/2)</a:t>
            </a:r>
          </a:p>
          <a:p>
            <a:pPr lvl="2" eaLnBrk="1" hangingPunct="1">
              <a:lnSpc>
                <a:spcPct val="150000"/>
              </a:lnSpc>
              <a:buFontTx/>
              <a:buChar char="•"/>
            </a:pPr>
            <a:r>
              <a:rPr lang="es-ES_tradnl" altLang="es-AR" sz="1620">
                <a:solidFill>
                  <a:srgbClr val="003399"/>
                </a:solidFill>
                <a:latin typeface="Verdana" panose="020B0604030504040204" pitchFamily="34" charset="0"/>
              </a:rPr>
              <a:t>5to Asigno recursos. Repetir hasta que no haya conflicto de derecha </a:t>
            </a:r>
            <a:br>
              <a:rPr lang="es-ES_tradnl" altLang="es-AR" sz="1620">
                <a:solidFill>
                  <a:srgbClr val="003399"/>
                </a:solidFill>
                <a:latin typeface="Verdana" panose="020B0604030504040204" pitchFamily="34" charset="0"/>
              </a:rPr>
            </a:br>
            <a:r>
              <a:rPr lang="es-ES_tradnl" altLang="es-AR" sz="1620">
                <a:solidFill>
                  <a:srgbClr val="003399"/>
                </a:solidFill>
                <a:latin typeface="Verdana" panose="020B0604030504040204" pitchFamily="34" charset="0"/>
              </a:rPr>
              <a:t>       a izq. Moviendo tareas a la izq.</a:t>
            </a:r>
          </a:p>
          <a:p>
            <a:pPr lvl="2" eaLnBrk="1" hangingPunct="1">
              <a:lnSpc>
                <a:spcPct val="150000"/>
              </a:lnSpc>
              <a:buFontTx/>
              <a:buChar char="•"/>
            </a:pPr>
            <a:r>
              <a:rPr lang="es-ES_tradnl" altLang="es-AR" sz="1620" b="1">
                <a:solidFill>
                  <a:srgbClr val="003399"/>
                </a:solidFill>
                <a:latin typeface="Verdana" panose="020B0604030504040204" pitchFamily="34" charset="0"/>
              </a:rPr>
              <a:t>Re-planificar consumo &gt;25% buffer</a:t>
            </a:r>
          </a:p>
          <a:p>
            <a:pPr lvl="2" eaLnBrk="1" hangingPunct="1">
              <a:lnSpc>
                <a:spcPct val="150000"/>
              </a:lnSpc>
              <a:buFontTx/>
              <a:buChar char="•"/>
            </a:pPr>
            <a:r>
              <a:rPr lang="es-ES_tradnl" altLang="es-AR" sz="1620">
                <a:solidFill>
                  <a:srgbClr val="003399"/>
                </a:solidFill>
                <a:latin typeface="Verdana" panose="020B0604030504040204" pitchFamily="34" charset="0"/>
              </a:rPr>
              <a:t>Al Cliente mostrarle el buffer del 10%</a:t>
            </a:r>
          </a:p>
          <a:p>
            <a:pPr lvl="2" eaLnBrk="1" hangingPunct="1">
              <a:lnSpc>
                <a:spcPct val="150000"/>
              </a:lnSpc>
              <a:buFontTx/>
              <a:buChar char="•"/>
            </a:pPr>
            <a:r>
              <a:rPr lang="es-ES_tradnl" altLang="es-AR" sz="1620">
                <a:solidFill>
                  <a:srgbClr val="003399"/>
                </a:solidFill>
                <a:latin typeface="Verdana" panose="020B0604030504040204" pitchFamily="34" charset="0"/>
              </a:rPr>
              <a:t>Controlar el proyecto con avance del buffer.</a:t>
            </a:r>
          </a:p>
          <a:p>
            <a:pPr lvl="2" eaLnBrk="1" hangingPunct="1">
              <a:buFontTx/>
              <a:buChar char="•"/>
            </a:pPr>
            <a:endParaRPr lang="es-ES_tradnl" altLang="es-AR" sz="2160" b="1">
              <a:solidFill>
                <a:srgbClr val="003399"/>
              </a:solidFill>
              <a:latin typeface="Verdana" panose="020B0604030504040204" pitchFamily="34" charset="0"/>
            </a:endParaRPr>
          </a:p>
          <a:p>
            <a:pPr lvl="2" eaLnBrk="1" hangingPunct="1">
              <a:buFontTx/>
              <a:buChar char="•"/>
            </a:pPr>
            <a:endParaRPr lang="es-ES_tradnl" altLang="es-AR" sz="1620" b="1">
              <a:latin typeface="Verdana" panose="020B0604030504040204" pitchFamily="34" charset="0"/>
            </a:endParaRPr>
          </a:p>
          <a:p>
            <a:pPr eaLnBrk="1" hangingPunct="1"/>
            <a:endParaRPr lang="es-ES_tradnl" altLang="es-AR" sz="1620" b="1">
              <a:latin typeface="Verdana" panose="020B0604030504040204" pitchFamily="34" charset="0"/>
            </a:endParaRPr>
          </a:p>
        </p:txBody>
      </p:sp>
      <p:sp>
        <p:nvSpPr>
          <p:cNvPr id="30724" name="Text Box 3">
            <a:extLst>
              <a:ext uri="{FF2B5EF4-FFF2-40B4-BE49-F238E27FC236}">
                <a16:creationId xmlns:a16="http://schemas.microsoft.com/office/drawing/2014/main" id="{D0956FFE-BCBF-13D2-FC49-05EFC8FEC9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59732" y="792957"/>
            <a:ext cx="8295323" cy="526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95000"/>
              </a:lnSpc>
            </a:pPr>
            <a:r>
              <a:rPr lang="en-US" altLang="es-AR" sz="3600" b="1">
                <a:solidFill>
                  <a:srgbClr val="262673"/>
                </a:solidFill>
                <a:latin typeface="Verdana" panose="020B0604030504040204" pitchFamily="34" charset="0"/>
              </a:rPr>
              <a:t>Consideraciones- Cadena Critica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ext Box 3">
            <a:extLst>
              <a:ext uri="{FF2B5EF4-FFF2-40B4-BE49-F238E27FC236}">
                <a16:creationId xmlns:a16="http://schemas.microsoft.com/office/drawing/2014/main" id="{832184B8-3169-76CB-F5CF-AA4834BFCA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4029" y="480061"/>
            <a:ext cx="8428196" cy="2631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ct val="95000"/>
              </a:lnSpc>
            </a:pPr>
            <a:r>
              <a:rPr lang="en-US" altLang="es-AR" sz="1800">
                <a:solidFill>
                  <a:srgbClr val="000000"/>
                </a:solidFill>
                <a:latin typeface="Arial" panose="020B0604020202020204" pitchFamily="34" charset="0"/>
              </a:rPr>
              <a:t>ADMINISTRACION DE PROYECTOS DE SOFTWARE - IT</a:t>
            </a:r>
          </a:p>
        </p:txBody>
      </p:sp>
      <p:sp>
        <p:nvSpPr>
          <p:cNvPr id="31747" name="Text Box 4">
            <a:extLst>
              <a:ext uri="{FF2B5EF4-FFF2-40B4-BE49-F238E27FC236}">
                <a16:creationId xmlns:a16="http://schemas.microsoft.com/office/drawing/2014/main" id="{096314D0-600D-857D-397F-EEB465271D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24025" y="1371600"/>
            <a:ext cx="8295323" cy="60662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marL="457200" indent="-4572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028700" indent="-4572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485900" indent="-4572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lvl="2" eaLnBrk="1" hangingPunct="1">
              <a:lnSpc>
                <a:spcPct val="150000"/>
              </a:lnSpc>
              <a:buFontTx/>
              <a:buChar char="•"/>
            </a:pPr>
            <a:r>
              <a:rPr lang="es-ES_tradnl" altLang="es-AR" sz="1620" dirty="0">
                <a:solidFill>
                  <a:srgbClr val="003399"/>
                </a:solidFill>
                <a:latin typeface="Verdana" panose="020B0604030504040204" pitchFamily="34" charset="0"/>
              </a:rPr>
              <a:t>Buffer de Recursos ( buffer iniciales x </a:t>
            </a:r>
            <a:r>
              <a:rPr lang="es-ES_tradnl" altLang="es-AR" sz="1620" dirty="0" err="1">
                <a:solidFill>
                  <a:srgbClr val="003399"/>
                </a:solidFill>
                <a:latin typeface="Verdana" panose="020B0604030504040204" pitchFamily="34" charset="0"/>
              </a:rPr>
              <a:t>setup</a:t>
            </a:r>
            <a:r>
              <a:rPr lang="es-ES_tradnl" altLang="es-AR" sz="1620" dirty="0">
                <a:solidFill>
                  <a:srgbClr val="003399"/>
                </a:solidFill>
                <a:latin typeface="Verdana" panose="020B0604030504040204" pitchFamily="34" charset="0"/>
              </a:rPr>
              <a:t>-up )</a:t>
            </a:r>
          </a:p>
          <a:p>
            <a:pPr lvl="2" eaLnBrk="1" hangingPunct="1">
              <a:lnSpc>
                <a:spcPct val="150000"/>
              </a:lnSpc>
              <a:buFontTx/>
              <a:buChar char="•"/>
            </a:pPr>
            <a:r>
              <a:rPr lang="es-ES_tradnl" altLang="es-AR" sz="1620" dirty="0">
                <a:solidFill>
                  <a:srgbClr val="003399"/>
                </a:solidFill>
                <a:latin typeface="Verdana" panose="020B0604030504040204" pitchFamily="34" charset="0"/>
              </a:rPr>
              <a:t>Buffer de Costo </a:t>
            </a:r>
          </a:p>
          <a:p>
            <a:pPr lvl="2" eaLnBrk="1" hangingPunct="1">
              <a:lnSpc>
                <a:spcPct val="150000"/>
              </a:lnSpc>
              <a:buFontTx/>
              <a:buChar char="•"/>
            </a:pPr>
            <a:r>
              <a:rPr lang="es-ES_tradnl" altLang="es-AR" sz="1620" dirty="0">
                <a:solidFill>
                  <a:srgbClr val="003399"/>
                </a:solidFill>
                <a:latin typeface="Verdana" panose="020B0604030504040204" pitchFamily="34" charset="0"/>
              </a:rPr>
              <a:t>Buffer Intermedios por Entregas parciales </a:t>
            </a:r>
          </a:p>
          <a:p>
            <a:pPr lvl="2" eaLnBrk="1" hangingPunct="1">
              <a:lnSpc>
                <a:spcPct val="150000"/>
              </a:lnSpc>
              <a:buFontTx/>
              <a:buChar char="•"/>
            </a:pPr>
            <a:r>
              <a:rPr lang="es-ES_tradnl" altLang="es-AR" sz="1620" dirty="0">
                <a:solidFill>
                  <a:srgbClr val="003399"/>
                </a:solidFill>
                <a:latin typeface="Verdana" panose="020B0604030504040204" pitchFamily="34" charset="0"/>
              </a:rPr>
              <a:t>Buffer a Tareas Externas ( Proveedores =&gt; repartimos el buffer“$/2” )</a:t>
            </a:r>
          </a:p>
          <a:p>
            <a:pPr lvl="2" eaLnBrk="1" hangingPunct="1">
              <a:lnSpc>
                <a:spcPct val="150000"/>
              </a:lnSpc>
              <a:buFontTx/>
              <a:buChar char="•"/>
            </a:pPr>
            <a:r>
              <a:rPr lang="es-ES_tradnl" altLang="es-AR" sz="1620" b="1" dirty="0">
                <a:solidFill>
                  <a:srgbClr val="003399"/>
                </a:solidFill>
                <a:latin typeface="Verdana" panose="020B0604030504040204" pitchFamily="34" charset="0"/>
              </a:rPr>
              <a:t>Riesgos del Proyecto = + Otros Buffers</a:t>
            </a:r>
          </a:p>
          <a:p>
            <a:pPr lvl="3" eaLnBrk="1" hangingPunct="1">
              <a:lnSpc>
                <a:spcPct val="150000"/>
              </a:lnSpc>
            </a:pPr>
            <a:r>
              <a:rPr lang="es-ES_tradnl" altLang="es-AR" sz="1620" dirty="0">
                <a:solidFill>
                  <a:srgbClr val="003399"/>
                </a:solidFill>
                <a:latin typeface="Verdana" panose="020B0604030504040204" pitchFamily="34" charset="0"/>
              </a:rPr>
              <a:t>Impacto de los riesgos :</a:t>
            </a:r>
          </a:p>
          <a:p>
            <a:pPr lvl="3" eaLnBrk="1" hangingPunct="1">
              <a:lnSpc>
                <a:spcPct val="150000"/>
              </a:lnSpc>
            </a:pPr>
            <a:r>
              <a:rPr lang="es-ES_tradnl" altLang="es-AR" sz="1620" dirty="0">
                <a:solidFill>
                  <a:srgbClr val="003399"/>
                </a:solidFill>
                <a:latin typeface="Verdana" panose="020B0604030504040204" pitchFamily="34" charset="0"/>
              </a:rPr>
              <a:t>	Altos  :	&gt; buffer de proyecto/costo</a:t>
            </a:r>
          </a:p>
          <a:p>
            <a:pPr lvl="3" eaLnBrk="1" hangingPunct="1">
              <a:lnSpc>
                <a:spcPct val="150000"/>
              </a:lnSpc>
            </a:pPr>
            <a:r>
              <a:rPr lang="es-ES_tradnl" altLang="es-AR" sz="1620" dirty="0">
                <a:solidFill>
                  <a:srgbClr val="003399"/>
                </a:solidFill>
                <a:latin typeface="Verdana" panose="020B0604030504040204" pitchFamily="34" charset="0"/>
              </a:rPr>
              <a:t>	Medios : 	&lt; 2/3 buffer de proyecto/costo</a:t>
            </a:r>
          </a:p>
          <a:p>
            <a:pPr lvl="3" eaLnBrk="1" hangingPunct="1">
              <a:lnSpc>
                <a:spcPct val="150000"/>
              </a:lnSpc>
            </a:pPr>
            <a:r>
              <a:rPr lang="es-ES_tradnl" altLang="es-AR" sz="1620" dirty="0">
                <a:solidFill>
                  <a:srgbClr val="003399"/>
                </a:solidFill>
                <a:latin typeface="Verdana" panose="020B0604030504040204" pitchFamily="34" charset="0"/>
              </a:rPr>
              <a:t>			</a:t>
            </a:r>
            <a:r>
              <a:rPr lang="es-ES_tradnl" altLang="es-AR" sz="1620" dirty="0" err="1">
                <a:solidFill>
                  <a:srgbClr val="003399"/>
                </a:solidFill>
                <a:latin typeface="Verdana" panose="020B0604030504040204" pitchFamily="34" charset="0"/>
              </a:rPr>
              <a:t>ó</a:t>
            </a:r>
            <a:r>
              <a:rPr lang="es-ES_tradnl" altLang="es-AR" sz="1620" dirty="0">
                <a:solidFill>
                  <a:srgbClr val="003399"/>
                </a:solidFill>
                <a:latin typeface="Verdana" panose="020B0604030504040204" pitchFamily="34" charset="0"/>
              </a:rPr>
              <a:t> &lt; 2/3 todos </a:t>
            </a:r>
            <a:r>
              <a:rPr lang="es-ES_tradnl" altLang="es-AR" sz="1620" dirty="0" err="1">
                <a:solidFill>
                  <a:srgbClr val="003399"/>
                </a:solidFill>
                <a:latin typeface="Verdana" panose="020B0604030504040204" pitchFamily="34" charset="0"/>
              </a:rPr>
              <a:t>feeding</a:t>
            </a:r>
            <a:r>
              <a:rPr lang="es-ES_tradnl" altLang="es-AR" sz="1620" dirty="0">
                <a:solidFill>
                  <a:srgbClr val="003399"/>
                </a:solidFill>
                <a:latin typeface="Verdana" panose="020B0604030504040204" pitchFamily="34" charset="0"/>
              </a:rPr>
              <a:t> buffer de proyecto</a:t>
            </a:r>
          </a:p>
          <a:p>
            <a:pPr lvl="3" eaLnBrk="1" hangingPunct="1">
              <a:lnSpc>
                <a:spcPct val="150000"/>
              </a:lnSpc>
            </a:pPr>
            <a:r>
              <a:rPr lang="es-ES_tradnl" altLang="es-AR" sz="1620" dirty="0">
                <a:solidFill>
                  <a:srgbClr val="003399"/>
                </a:solidFill>
                <a:latin typeface="Verdana" panose="020B0604030504040204" pitchFamily="34" charset="0"/>
              </a:rPr>
              <a:t>	Bajos:	&lt; 1/3 buffer.</a:t>
            </a:r>
          </a:p>
          <a:p>
            <a:pPr lvl="3" eaLnBrk="1" hangingPunct="1">
              <a:lnSpc>
                <a:spcPct val="150000"/>
              </a:lnSpc>
            </a:pPr>
            <a:endParaRPr lang="es-ES_tradnl" altLang="es-AR" sz="1620" dirty="0">
              <a:solidFill>
                <a:srgbClr val="003399"/>
              </a:solidFill>
              <a:latin typeface="Verdana" panose="020B0604030504040204" pitchFamily="34" charset="0"/>
            </a:endParaRPr>
          </a:p>
          <a:p>
            <a:pPr lvl="3" eaLnBrk="1" hangingPunct="1">
              <a:lnSpc>
                <a:spcPct val="150000"/>
              </a:lnSpc>
            </a:pPr>
            <a:endParaRPr lang="es-ES_tradnl" altLang="es-AR" sz="1620" dirty="0">
              <a:solidFill>
                <a:srgbClr val="003399"/>
              </a:solidFill>
              <a:latin typeface="Verdana" panose="020B0604030504040204" pitchFamily="34" charset="0"/>
            </a:endParaRPr>
          </a:p>
          <a:p>
            <a:pPr lvl="3" eaLnBrk="1" hangingPunct="1">
              <a:lnSpc>
                <a:spcPct val="150000"/>
              </a:lnSpc>
              <a:buFontTx/>
              <a:buChar char="•"/>
            </a:pPr>
            <a:endParaRPr lang="es-ES_tradnl" altLang="es-AR" sz="1620" dirty="0">
              <a:solidFill>
                <a:srgbClr val="003399"/>
              </a:solidFill>
              <a:latin typeface="Verdana" panose="020B0604030504040204" pitchFamily="34" charset="0"/>
            </a:endParaRPr>
          </a:p>
          <a:p>
            <a:pPr lvl="2" eaLnBrk="1" hangingPunct="1">
              <a:buFontTx/>
              <a:buChar char="•"/>
            </a:pPr>
            <a:endParaRPr lang="es-ES_tradnl" altLang="es-AR" sz="2160" b="1" dirty="0">
              <a:solidFill>
                <a:srgbClr val="003399"/>
              </a:solidFill>
              <a:latin typeface="Verdana" panose="020B0604030504040204" pitchFamily="34" charset="0"/>
            </a:endParaRPr>
          </a:p>
          <a:p>
            <a:pPr lvl="2" eaLnBrk="1" hangingPunct="1">
              <a:buFontTx/>
              <a:buChar char="•"/>
            </a:pPr>
            <a:endParaRPr lang="es-ES_tradnl" altLang="es-AR" sz="1620" b="1" dirty="0">
              <a:latin typeface="Verdana" panose="020B0604030504040204" pitchFamily="34" charset="0"/>
            </a:endParaRPr>
          </a:p>
          <a:p>
            <a:pPr eaLnBrk="1" hangingPunct="1"/>
            <a:endParaRPr lang="es-ES_tradnl" altLang="es-AR" sz="1620" b="1" dirty="0">
              <a:latin typeface="Verdana" panose="020B0604030504040204" pitchFamily="34" charset="0"/>
            </a:endParaRPr>
          </a:p>
        </p:txBody>
      </p:sp>
      <p:sp>
        <p:nvSpPr>
          <p:cNvPr id="31748" name="Text Box 3">
            <a:extLst>
              <a:ext uri="{FF2B5EF4-FFF2-40B4-BE49-F238E27FC236}">
                <a16:creationId xmlns:a16="http://schemas.microsoft.com/office/drawing/2014/main" id="{155718FD-DFF1-BBF9-9391-170B0B57EA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59732" y="792957"/>
            <a:ext cx="8295323" cy="526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95000"/>
              </a:lnSpc>
            </a:pPr>
            <a:r>
              <a:rPr lang="en-US" altLang="es-AR" sz="3600" b="1">
                <a:solidFill>
                  <a:srgbClr val="262673"/>
                </a:solidFill>
                <a:latin typeface="Verdana" panose="020B0604030504040204" pitchFamily="34" charset="0"/>
              </a:rPr>
              <a:t>Otros Buffers - Cadena Critica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D7C11C8-3825-3262-36F8-33EC28FD2EBB}"/>
              </a:ext>
            </a:extLst>
          </p:cNvPr>
          <p:cNvSpPr/>
          <p:nvPr/>
        </p:nvSpPr>
        <p:spPr>
          <a:xfrm>
            <a:off x="8603457" y="5614988"/>
            <a:ext cx="1607343" cy="10287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AR" sz="1620"/>
          </a:p>
        </p:txBody>
      </p:sp>
      <p:grpSp>
        <p:nvGrpSpPr>
          <p:cNvPr id="2" name="Group 20">
            <a:extLst>
              <a:ext uri="{FF2B5EF4-FFF2-40B4-BE49-F238E27FC236}">
                <a16:creationId xmlns:a16="http://schemas.microsoft.com/office/drawing/2014/main" id="{408D8A00-5146-1D01-30CD-22DA6D91BB71}"/>
              </a:ext>
            </a:extLst>
          </p:cNvPr>
          <p:cNvGrpSpPr>
            <a:grpSpLocks/>
          </p:cNvGrpSpPr>
          <p:nvPr/>
        </p:nvGrpSpPr>
        <p:grpSpPr bwMode="auto">
          <a:xfrm>
            <a:off x="2431257" y="4993482"/>
            <a:ext cx="7008018" cy="1873752"/>
            <a:chOff x="1008034" y="5548314"/>
            <a:chExt cx="7786742" cy="2081945"/>
          </a:xfrm>
        </p:grpSpPr>
        <p:pic>
          <p:nvPicPr>
            <p:cNvPr id="31751" name="Picture 4" descr="http://www.pdinstitute.com/pdipics/anatomy.jpg">
              <a:extLst>
                <a:ext uri="{FF2B5EF4-FFF2-40B4-BE49-F238E27FC236}">
                  <a16:creationId xmlns:a16="http://schemas.microsoft.com/office/drawing/2014/main" id="{9EEE79B1-FB7B-6737-64AE-AA273766295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65423" y="5548314"/>
              <a:ext cx="4000528" cy="20250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1752" name="TextBox 7">
              <a:extLst>
                <a:ext uri="{FF2B5EF4-FFF2-40B4-BE49-F238E27FC236}">
                  <a16:creationId xmlns:a16="http://schemas.microsoft.com/office/drawing/2014/main" id="{1AEF4DE6-F2D7-2712-6518-3895AE5A16E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94380" y="7024710"/>
              <a:ext cx="1247666" cy="47192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s-MX" altLang="es-AR" sz="2160">
                  <a:solidFill>
                    <a:srgbClr val="C00000"/>
                  </a:solidFill>
                  <a:latin typeface="Verdana" panose="020B0604030504040204" pitchFamily="34" charset="0"/>
                </a:rPr>
                <a:t>buffer</a:t>
              </a:r>
              <a:endParaRPr lang="es-AR" altLang="es-AR" sz="2160">
                <a:solidFill>
                  <a:srgbClr val="C00000"/>
                </a:solidFill>
                <a:latin typeface="Verdana" panose="020B0604030504040204" pitchFamily="34" charset="0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F2530DB2-C571-2EF4-CE46-5A68E421D71B}"/>
                </a:ext>
              </a:extLst>
            </p:cNvPr>
            <p:cNvSpPr/>
            <p:nvPr/>
          </p:nvSpPr>
          <p:spPr>
            <a:xfrm>
              <a:off x="6008694" y="6310314"/>
              <a:ext cx="928694" cy="571500"/>
            </a:xfrm>
            <a:prstGeom prst="rect">
              <a:avLst/>
            </a:prstGeom>
            <a:gradFill flip="none" rotWithShape="1">
              <a:gsLst>
                <a:gs pos="0">
                  <a:srgbClr val="FBEAC7"/>
                </a:gs>
                <a:gs pos="17999">
                  <a:srgbClr val="FEE7F2"/>
                </a:gs>
                <a:gs pos="36000">
                  <a:srgbClr val="FAC77D"/>
                </a:gs>
                <a:gs pos="61000">
                  <a:srgbClr val="FBA97D"/>
                </a:gs>
                <a:gs pos="82001">
                  <a:srgbClr val="FBD49C"/>
                </a:gs>
                <a:gs pos="100000">
                  <a:srgbClr val="FEE7F2"/>
                </a:gs>
              </a:gsLst>
              <a:lin ang="0" scaled="1"/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s-AR" sz="1620"/>
            </a:p>
          </p:txBody>
        </p:sp>
        <p:sp>
          <p:nvSpPr>
            <p:cNvPr id="31754" name="TextBox 9">
              <a:extLst>
                <a:ext uri="{FF2B5EF4-FFF2-40B4-BE49-F238E27FC236}">
                  <a16:creationId xmlns:a16="http://schemas.microsoft.com/office/drawing/2014/main" id="{5552FFDB-57ED-DF28-EBE9-F83016C5B1D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08034" y="7158335"/>
              <a:ext cx="2431239" cy="4719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s-MX" altLang="es-AR" sz="2160">
                  <a:solidFill>
                    <a:srgbClr val="C00000"/>
                  </a:solidFill>
                  <a:latin typeface="Verdana" panose="020B0604030504040204" pitchFamily="34" charset="0"/>
                </a:rPr>
                <a:t>Feeding buffer</a:t>
              </a:r>
              <a:endParaRPr lang="es-AR" altLang="es-AR" sz="2160">
                <a:solidFill>
                  <a:srgbClr val="C00000"/>
                </a:solidFill>
                <a:latin typeface="Verdana" panose="020B0604030504040204" pitchFamily="34" charset="0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83513040-3E2C-B4FC-8C6B-38BFFBBF825E}"/>
                </a:ext>
              </a:extLst>
            </p:cNvPr>
            <p:cNvSpPr/>
            <p:nvPr/>
          </p:nvSpPr>
          <p:spPr>
            <a:xfrm>
              <a:off x="6937388" y="6167439"/>
              <a:ext cx="928695" cy="785812"/>
            </a:xfrm>
            <a:prstGeom prst="rect">
              <a:avLst/>
            </a:prstGeom>
            <a:gradFill flip="none" rotWithShape="1">
              <a:gsLst>
                <a:gs pos="0">
                  <a:srgbClr val="FFF200"/>
                </a:gs>
                <a:gs pos="45000">
                  <a:srgbClr val="FF7A00"/>
                </a:gs>
                <a:gs pos="70000">
                  <a:srgbClr val="FF0300"/>
                </a:gs>
                <a:gs pos="100000">
                  <a:srgbClr val="4D0808"/>
                </a:gs>
              </a:gsLst>
              <a:lin ang="0" scaled="0"/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s-AR" sz="162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258FDBC6-0F57-623D-8ED1-5F6486DAC4D0}"/>
                </a:ext>
              </a:extLst>
            </p:cNvPr>
            <p:cNvSpPr txBox="1"/>
            <p:nvPr/>
          </p:nvSpPr>
          <p:spPr>
            <a:xfrm>
              <a:off x="6937388" y="6453189"/>
              <a:ext cx="1071571" cy="318035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s-MX" sz="1260" b="1" dirty="0">
                  <a:solidFill>
                    <a:schemeClr val="accent4"/>
                  </a:solidFill>
                  <a:latin typeface="Verdana" pitchFamily="34" charset="0"/>
                </a:rPr>
                <a:t>Riesgos</a:t>
              </a:r>
              <a:endParaRPr lang="es-AR" sz="1260" b="1" dirty="0">
                <a:solidFill>
                  <a:schemeClr val="accent4"/>
                </a:solidFill>
                <a:latin typeface="Verdana" pitchFamily="34" charset="0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C6FCB4CD-7989-9B99-1A88-33A67F8D40B2}"/>
                </a:ext>
              </a:extLst>
            </p:cNvPr>
            <p:cNvSpPr/>
            <p:nvPr/>
          </p:nvSpPr>
          <p:spPr>
            <a:xfrm>
              <a:off x="7866082" y="5738814"/>
              <a:ext cx="928694" cy="1500186"/>
            </a:xfrm>
            <a:prstGeom prst="rect">
              <a:avLst/>
            </a:prstGeom>
            <a:gradFill flip="none" rotWithShape="1">
              <a:gsLst>
                <a:gs pos="0">
                  <a:srgbClr val="DDEBCF"/>
                </a:gs>
                <a:gs pos="50000">
                  <a:srgbClr val="9CB86E"/>
                </a:gs>
                <a:gs pos="100000">
                  <a:srgbClr val="156B13"/>
                </a:gs>
              </a:gsLst>
              <a:lin ang="0" scaled="0"/>
              <a:tileRect/>
            </a:gradFill>
            <a:ln cmpd="dbl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s-AR" sz="162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C011E4F5-CE85-9B2E-B7BA-39489E4A1535}"/>
                </a:ext>
              </a:extLst>
            </p:cNvPr>
            <p:cNvSpPr txBox="1"/>
            <p:nvPr/>
          </p:nvSpPr>
          <p:spPr>
            <a:xfrm rot="16200000">
              <a:off x="7754962" y="6351497"/>
              <a:ext cx="1331911" cy="379594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s-MX" sz="1620" dirty="0">
                  <a:solidFill>
                    <a:schemeClr val="accent4"/>
                  </a:solidFill>
                  <a:latin typeface="Verdana" pitchFamily="34" charset="0"/>
                </a:rPr>
                <a:t>Margen</a:t>
              </a:r>
              <a:endParaRPr lang="es-AR" sz="1620" dirty="0">
                <a:solidFill>
                  <a:schemeClr val="accent4"/>
                </a:solidFill>
                <a:latin typeface="Verdana" pitchFamily="34" charset="0"/>
              </a:endParaRPr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851BE193-8B83-DB91-B208-BE4CAF7EC0D3}"/>
                </a:ext>
              </a:extLst>
            </p:cNvPr>
            <p:cNvCxnSpPr/>
            <p:nvPr/>
          </p:nvCxnSpPr>
          <p:spPr>
            <a:xfrm rot="5400000" flipH="1" flipV="1">
              <a:off x="6365885" y="6738938"/>
              <a:ext cx="357188" cy="214314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E6152A2E-4CC2-721B-251B-39589D2D4115}"/>
                </a:ext>
              </a:extLst>
            </p:cNvPr>
            <p:cNvCxnSpPr>
              <a:stCxn id="31754" idx="3"/>
            </p:cNvCxnSpPr>
            <p:nvPr/>
          </p:nvCxnSpPr>
          <p:spPr>
            <a:xfrm flipV="1">
              <a:off x="3439273" y="7024688"/>
              <a:ext cx="783470" cy="369609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ext Box 3">
            <a:extLst>
              <a:ext uri="{FF2B5EF4-FFF2-40B4-BE49-F238E27FC236}">
                <a16:creationId xmlns:a16="http://schemas.microsoft.com/office/drawing/2014/main" id="{3B87CE10-A81E-ECD3-4010-7E761BF0E9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4029" y="480061"/>
            <a:ext cx="8428196" cy="2631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ct val="95000"/>
              </a:lnSpc>
            </a:pPr>
            <a:r>
              <a:rPr lang="en-US" altLang="es-AR" sz="1800">
                <a:solidFill>
                  <a:srgbClr val="000000"/>
                </a:solidFill>
                <a:latin typeface="Arial" panose="020B0604020202020204" pitchFamily="34" charset="0"/>
              </a:rPr>
              <a:t>ADMINISTRACION DE PROYECTOS DE SOFTWARE - IT</a:t>
            </a:r>
          </a:p>
        </p:txBody>
      </p:sp>
      <p:sp>
        <p:nvSpPr>
          <p:cNvPr id="30724" name="Text Box 4">
            <a:extLst>
              <a:ext uri="{FF2B5EF4-FFF2-40B4-BE49-F238E27FC236}">
                <a16:creationId xmlns:a16="http://schemas.microsoft.com/office/drawing/2014/main" id="{A0CD147E-6675-DF93-4206-BDCCB9C1DC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2613" y="1371600"/>
            <a:ext cx="8295323" cy="73127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925830" lvl="2" indent="-411480">
              <a:lnSpc>
                <a:spcPct val="150000"/>
              </a:lnSpc>
              <a:buFontTx/>
              <a:buChar char="•"/>
              <a:defRPr/>
            </a:pPr>
            <a:r>
              <a:rPr lang="es-ES_tradnl" b="1" dirty="0">
                <a:solidFill>
                  <a:srgbClr val="003399"/>
                </a:solidFill>
                <a:latin typeface="Verdana" pitchFamily="34" charset="0"/>
              </a:rPr>
              <a:t>COMPROMISO DEL EQUIPO</a:t>
            </a:r>
          </a:p>
          <a:p>
            <a:pPr marL="1337310" lvl="3" indent="-411480">
              <a:lnSpc>
                <a:spcPct val="150000"/>
              </a:lnSpc>
              <a:buFontTx/>
              <a:buChar char="•"/>
              <a:defRPr/>
            </a:pPr>
            <a:r>
              <a:rPr lang="es-ES_tradnl" sz="1440" b="1" dirty="0">
                <a:solidFill>
                  <a:schemeClr val="accent4"/>
                </a:solidFill>
                <a:latin typeface="Verdana" pitchFamily="34" charset="0"/>
              </a:rPr>
              <a:t>Carreta de postas.</a:t>
            </a:r>
          </a:p>
          <a:p>
            <a:pPr marL="1337310" lvl="3" indent="-411480">
              <a:lnSpc>
                <a:spcPct val="150000"/>
              </a:lnSpc>
              <a:buFontTx/>
              <a:buChar char="•"/>
              <a:defRPr/>
            </a:pPr>
            <a:r>
              <a:rPr lang="es-ES_tradnl" sz="1440" b="1" dirty="0">
                <a:solidFill>
                  <a:schemeClr val="accent4"/>
                </a:solidFill>
                <a:latin typeface="Verdana" pitchFamily="34" charset="0"/>
              </a:rPr>
              <a:t> Revisar continuamente.</a:t>
            </a:r>
          </a:p>
          <a:p>
            <a:pPr marL="1337310" lvl="3" indent="-411480">
              <a:lnSpc>
                <a:spcPct val="150000"/>
              </a:lnSpc>
              <a:buFontTx/>
              <a:buChar char="•"/>
              <a:defRPr/>
            </a:pPr>
            <a:r>
              <a:rPr lang="es-ES_tradnl" sz="1440" b="1" dirty="0">
                <a:solidFill>
                  <a:schemeClr val="accent4"/>
                </a:solidFill>
                <a:latin typeface="Verdana" pitchFamily="34" charset="0"/>
              </a:rPr>
              <a:t>Avisar al terminar.</a:t>
            </a:r>
          </a:p>
          <a:p>
            <a:pPr marL="925830" lvl="2" indent="-411480">
              <a:lnSpc>
                <a:spcPct val="150000"/>
              </a:lnSpc>
              <a:buFontTx/>
              <a:buChar char="•"/>
              <a:defRPr/>
            </a:pPr>
            <a:r>
              <a:rPr lang="es-ES_tradnl" sz="1620" b="1" dirty="0">
                <a:solidFill>
                  <a:srgbClr val="003399"/>
                </a:solidFill>
                <a:latin typeface="Verdana" pitchFamily="34" charset="0"/>
              </a:rPr>
              <a:t>COMPROMISO COORDINADOR / DIRECCION</a:t>
            </a:r>
          </a:p>
          <a:p>
            <a:pPr marL="1337310" lvl="3" indent="-411480">
              <a:lnSpc>
                <a:spcPct val="150000"/>
              </a:lnSpc>
              <a:buFontTx/>
              <a:buChar char="•"/>
              <a:defRPr/>
            </a:pPr>
            <a:r>
              <a:rPr lang="es-ES_tradnl" sz="1440" b="1" dirty="0">
                <a:solidFill>
                  <a:schemeClr val="accent4"/>
                </a:solidFill>
                <a:latin typeface="Verdana" pitchFamily="34" charset="0"/>
              </a:rPr>
              <a:t>No Presionar con el calendario.</a:t>
            </a:r>
          </a:p>
          <a:p>
            <a:pPr marL="1337310" lvl="3" indent="-411480">
              <a:lnSpc>
                <a:spcPct val="150000"/>
              </a:lnSpc>
              <a:buFontTx/>
              <a:buChar char="•"/>
              <a:defRPr/>
            </a:pPr>
            <a:r>
              <a:rPr lang="es-ES_tradnl" sz="1440" b="1" dirty="0">
                <a:solidFill>
                  <a:schemeClr val="accent4"/>
                </a:solidFill>
                <a:latin typeface="Verdana" pitchFamily="34" charset="0"/>
              </a:rPr>
              <a:t>Tareas chicas 1 ó 2 días.</a:t>
            </a:r>
          </a:p>
          <a:p>
            <a:pPr marL="1337310" lvl="3" indent="-411480">
              <a:lnSpc>
                <a:spcPct val="150000"/>
              </a:lnSpc>
              <a:buFontTx/>
              <a:buChar char="•"/>
              <a:defRPr/>
            </a:pPr>
            <a:r>
              <a:rPr lang="es-ES_tradnl" sz="1440" b="1" dirty="0">
                <a:solidFill>
                  <a:schemeClr val="accent4"/>
                </a:solidFill>
                <a:latin typeface="Verdana" pitchFamily="34" charset="0"/>
              </a:rPr>
              <a:t>No Sobrecargar más del 80% recurso.</a:t>
            </a:r>
          </a:p>
          <a:p>
            <a:pPr marL="1337310" lvl="3" indent="-411480">
              <a:lnSpc>
                <a:spcPct val="150000"/>
              </a:lnSpc>
              <a:buFontTx/>
              <a:buChar char="•"/>
              <a:defRPr/>
            </a:pPr>
            <a:r>
              <a:rPr lang="es-ES_tradnl" sz="1440" b="1" dirty="0">
                <a:solidFill>
                  <a:schemeClr val="accent4"/>
                </a:solidFill>
                <a:latin typeface="Verdana" pitchFamily="34" charset="0"/>
              </a:rPr>
              <a:t>Permitir que trabaje en 1 sola tarea a la vez.</a:t>
            </a:r>
          </a:p>
          <a:p>
            <a:pPr marL="1337310" lvl="3" indent="-411480">
              <a:lnSpc>
                <a:spcPct val="150000"/>
              </a:lnSpc>
              <a:buFontTx/>
              <a:buChar char="•"/>
              <a:defRPr/>
            </a:pPr>
            <a:r>
              <a:rPr lang="es-ES_tradnl" sz="1440" b="1" dirty="0">
                <a:solidFill>
                  <a:schemeClr val="accent4"/>
                </a:solidFill>
                <a:latin typeface="Verdana" pitchFamily="34" charset="0"/>
              </a:rPr>
              <a:t>No Multi-proyecto.</a:t>
            </a:r>
          </a:p>
          <a:p>
            <a:pPr marL="1337310" lvl="3" indent="-411480">
              <a:lnSpc>
                <a:spcPct val="150000"/>
              </a:lnSpc>
              <a:buFontTx/>
              <a:buChar char="•"/>
              <a:defRPr/>
            </a:pPr>
            <a:r>
              <a:rPr lang="es-ES_tradnl" sz="1440" b="1" dirty="0">
                <a:solidFill>
                  <a:schemeClr val="accent4"/>
                </a:solidFill>
                <a:latin typeface="Verdana" pitchFamily="34" charset="0"/>
              </a:rPr>
              <a:t>Cohesión del Equipo. </a:t>
            </a:r>
          </a:p>
          <a:p>
            <a:pPr marL="1337310" lvl="3" indent="-411480">
              <a:lnSpc>
                <a:spcPct val="150000"/>
              </a:lnSpc>
              <a:buFontTx/>
              <a:buChar char="•"/>
              <a:defRPr/>
            </a:pPr>
            <a:r>
              <a:rPr lang="es-ES_tradnl" sz="1440" b="1" dirty="0">
                <a:solidFill>
                  <a:schemeClr val="accent4"/>
                </a:solidFill>
                <a:latin typeface="Verdana" pitchFamily="34" charset="0"/>
              </a:rPr>
              <a:t>Marcar el Ritmo. (</a:t>
            </a:r>
            <a:r>
              <a:rPr lang="es-ES_tradnl" sz="1440" b="1" dirty="0" err="1">
                <a:solidFill>
                  <a:schemeClr val="accent4"/>
                </a:solidFill>
                <a:latin typeface="Verdana" pitchFamily="34" charset="0"/>
              </a:rPr>
              <a:t>Drum</a:t>
            </a:r>
            <a:r>
              <a:rPr lang="es-ES_tradnl" sz="1440" b="1" dirty="0">
                <a:solidFill>
                  <a:schemeClr val="accent4"/>
                </a:solidFill>
                <a:latin typeface="Verdana" pitchFamily="34" charset="0"/>
              </a:rPr>
              <a:t>)</a:t>
            </a:r>
          </a:p>
          <a:p>
            <a:pPr marL="1337310" lvl="3" indent="-411480">
              <a:lnSpc>
                <a:spcPct val="150000"/>
              </a:lnSpc>
              <a:buFontTx/>
              <a:buChar char="•"/>
              <a:defRPr/>
            </a:pPr>
            <a:r>
              <a:rPr lang="es-ES_tradnl" sz="1440" b="1" dirty="0">
                <a:solidFill>
                  <a:schemeClr val="accent4"/>
                </a:solidFill>
                <a:latin typeface="Verdana" pitchFamily="34" charset="0"/>
              </a:rPr>
              <a:t>Control del proceso. Actuar de inmediato en CC. Seguimiento.</a:t>
            </a:r>
          </a:p>
          <a:p>
            <a:pPr marL="1337310" lvl="3" indent="-411480">
              <a:lnSpc>
                <a:spcPct val="150000"/>
              </a:lnSpc>
              <a:buFontTx/>
              <a:buChar char="•"/>
              <a:defRPr/>
            </a:pPr>
            <a:r>
              <a:rPr lang="es-ES_tradnl" sz="1440" b="1" dirty="0">
                <a:solidFill>
                  <a:schemeClr val="accent4"/>
                </a:solidFill>
                <a:latin typeface="Verdana" pitchFamily="34" charset="0"/>
              </a:rPr>
              <a:t>No comenzar si excede la capacidad de recursos.</a:t>
            </a:r>
          </a:p>
          <a:p>
            <a:pPr marL="1337310" lvl="3" indent="-411480">
              <a:lnSpc>
                <a:spcPct val="150000"/>
              </a:lnSpc>
              <a:buFontTx/>
              <a:buChar char="•"/>
              <a:defRPr/>
            </a:pPr>
            <a:r>
              <a:rPr lang="es-ES_tradnl" sz="1440" b="1" dirty="0">
                <a:solidFill>
                  <a:schemeClr val="accent4"/>
                </a:solidFill>
                <a:latin typeface="Verdana" pitchFamily="34" charset="0"/>
              </a:rPr>
              <a:t>Los retrasos consumen el buffer !.</a:t>
            </a:r>
          </a:p>
          <a:p>
            <a:pPr marL="1337310" lvl="3" indent="-411480">
              <a:lnSpc>
                <a:spcPct val="150000"/>
              </a:lnSpc>
              <a:buFontTx/>
              <a:buChar char="•"/>
              <a:defRPr/>
            </a:pPr>
            <a:r>
              <a:rPr lang="es-ES_tradnl" sz="1440" b="1" dirty="0">
                <a:solidFill>
                  <a:schemeClr val="accent4"/>
                </a:solidFill>
                <a:latin typeface="Verdana" pitchFamily="34" charset="0"/>
              </a:rPr>
              <a:t>Comunicación, Comunicación, Comunicación.</a:t>
            </a:r>
          </a:p>
          <a:p>
            <a:pPr marL="1337310" lvl="3" indent="-411480">
              <a:lnSpc>
                <a:spcPct val="150000"/>
              </a:lnSpc>
              <a:defRPr/>
            </a:pPr>
            <a:endParaRPr lang="es-ES_tradnl" sz="1620" dirty="0">
              <a:solidFill>
                <a:srgbClr val="003399"/>
              </a:solidFill>
              <a:latin typeface="Verdana" pitchFamily="34" charset="0"/>
            </a:endParaRPr>
          </a:p>
          <a:p>
            <a:pPr marL="1337310" lvl="3" indent="-411480">
              <a:lnSpc>
                <a:spcPct val="150000"/>
              </a:lnSpc>
              <a:defRPr/>
            </a:pPr>
            <a:endParaRPr lang="es-ES_tradnl" sz="1620" dirty="0">
              <a:solidFill>
                <a:srgbClr val="003399"/>
              </a:solidFill>
              <a:latin typeface="Verdana" pitchFamily="34" charset="0"/>
            </a:endParaRPr>
          </a:p>
          <a:p>
            <a:pPr marL="1337310" lvl="3" indent="-411480">
              <a:lnSpc>
                <a:spcPct val="150000"/>
              </a:lnSpc>
              <a:buFontTx/>
              <a:buChar char="•"/>
              <a:defRPr/>
            </a:pPr>
            <a:endParaRPr lang="es-ES_tradnl" sz="1620" dirty="0">
              <a:solidFill>
                <a:srgbClr val="003399"/>
              </a:solidFill>
              <a:latin typeface="Verdana" pitchFamily="34" charset="0"/>
            </a:endParaRPr>
          </a:p>
          <a:p>
            <a:pPr marL="925830" lvl="2" indent="-411480">
              <a:buFontTx/>
              <a:buChar char="•"/>
              <a:defRPr/>
            </a:pPr>
            <a:endParaRPr lang="es-ES_tradnl" sz="1620" b="1" dirty="0">
              <a:solidFill>
                <a:srgbClr val="003399"/>
              </a:solidFill>
              <a:latin typeface="Verdana" pitchFamily="34" charset="0"/>
            </a:endParaRPr>
          </a:p>
          <a:p>
            <a:pPr marL="925830" lvl="2" indent="-411480">
              <a:buFontTx/>
              <a:buChar char="•"/>
              <a:defRPr/>
            </a:pPr>
            <a:endParaRPr lang="es-ES_tradnl" sz="1620" b="1" dirty="0">
              <a:latin typeface="Verdana" pitchFamily="34" charset="0"/>
            </a:endParaRPr>
          </a:p>
          <a:p>
            <a:pPr marL="411480" indent="-411480">
              <a:defRPr/>
            </a:pPr>
            <a:endParaRPr lang="es-ES_tradnl" sz="1620" b="1" dirty="0">
              <a:latin typeface="Verdana" pitchFamily="34" charset="0"/>
            </a:endParaRPr>
          </a:p>
        </p:txBody>
      </p:sp>
      <p:sp>
        <p:nvSpPr>
          <p:cNvPr id="32772" name="Text Box 3">
            <a:extLst>
              <a:ext uri="{FF2B5EF4-FFF2-40B4-BE49-F238E27FC236}">
                <a16:creationId xmlns:a16="http://schemas.microsoft.com/office/drawing/2014/main" id="{92869687-920F-0031-A165-A80CE2C330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59732" y="792957"/>
            <a:ext cx="8295323" cy="526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95000"/>
              </a:lnSpc>
            </a:pPr>
            <a:r>
              <a:rPr lang="en-US" altLang="es-AR" sz="3600" b="1">
                <a:solidFill>
                  <a:srgbClr val="262673"/>
                </a:solidFill>
                <a:latin typeface="Verdana" panose="020B0604030504040204" pitchFamily="34" charset="0"/>
              </a:rPr>
              <a:t>Comportamiento para lograrlo !</a:t>
            </a:r>
          </a:p>
        </p:txBody>
      </p:sp>
      <p:pic>
        <p:nvPicPr>
          <p:cNvPr id="32773" name="Picture 2" descr="http://tbn0.google.com/images?q=tbn:zHifxS7SpKXYyM:http://www.pazdelrio.com.co/nuestro_compromiso.jpg">
            <a:hlinkClick r:id="rId3"/>
            <a:extLst>
              <a:ext uri="{FF2B5EF4-FFF2-40B4-BE49-F238E27FC236}">
                <a16:creationId xmlns:a16="http://schemas.microsoft.com/office/drawing/2014/main" id="{6A385DE9-1EE1-CC63-B277-49D18A312B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60632" y="2786063"/>
            <a:ext cx="900113" cy="1517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2774" name="Picture 4" descr="http://tbn0.google.com/images?q=tbn:_JPj1Fv1zZ6ILM:http://www.iq-online.com/images/FOTOS%2520WEB/CLIENTES/firmar%2520cheque.jpg">
            <a:hlinkClick r:id="rId5"/>
            <a:extLst>
              <a:ext uri="{FF2B5EF4-FFF2-40B4-BE49-F238E27FC236}">
                <a16:creationId xmlns:a16="http://schemas.microsoft.com/office/drawing/2014/main" id="{4216DF02-660A-DFAE-7A9A-05930C7D5F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03457" y="4457700"/>
            <a:ext cx="1344453" cy="900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2775" name="Picture 6" descr="http://tbn0.google.com/images?q=tbn:s7yH-yrLkI6PAM:http://www.evp.edu.py/images/60-ar-20.png">
            <a:hlinkClick r:id="rId7"/>
            <a:extLst>
              <a:ext uri="{FF2B5EF4-FFF2-40B4-BE49-F238E27FC236}">
                <a16:creationId xmlns:a16="http://schemas.microsoft.com/office/drawing/2014/main" id="{616CEFBD-EAB6-35EF-4A4F-586B5B17C5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74869" y="1371600"/>
            <a:ext cx="1478756" cy="1128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988</TotalTime>
  <Words>484</Words>
  <Application>Microsoft Office PowerPoint</Application>
  <PresentationFormat>Panorámica</PresentationFormat>
  <Paragraphs>78</Paragraphs>
  <Slides>6</Slides>
  <Notes>5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2" baseType="lpstr">
      <vt:lpstr>Aptos</vt:lpstr>
      <vt:lpstr>Aptos Display</vt:lpstr>
      <vt:lpstr>Arial</vt:lpstr>
      <vt:lpstr>Tahoma</vt:lpstr>
      <vt:lpstr>Verdana</vt:lpstr>
      <vt:lpstr>Tema de Office</vt:lpstr>
      <vt:lpstr>ccpm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 Sfrede</dc:creator>
  <cp:lastModifiedBy>Ale Sfrede</cp:lastModifiedBy>
  <cp:revision>1</cp:revision>
  <dcterms:created xsi:type="dcterms:W3CDTF">2025-12-16T20:24:59Z</dcterms:created>
  <dcterms:modified xsi:type="dcterms:W3CDTF">2025-12-17T12:53:34Z</dcterms:modified>
</cp:coreProperties>
</file>